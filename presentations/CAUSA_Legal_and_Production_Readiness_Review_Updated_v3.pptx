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01239e48efc4df0" /><Relationship Type="http://schemas.openxmlformats.org/officeDocument/2006/relationships/extended-properties" Target="/docProps/app.xml" Id="R86ebb6a1b4784707" /><Relationship Type="http://schemas.openxmlformats.org/officeDocument/2006/relationships/officeDocument" Target="/ppt/presentation.xml" Id="Ra3141a056e1a4e2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e220b4c83fa41aa"/>
  </p:sldMasterIdLst>
  <p:notesMasterIdLst>
    <p:notesMasterId xmlns:r="http://schemas.openxmlformats.org/officeDocument/2006/relationships" r:id="Rb51a4b11979a4144"/>
  </p:notesMasterIdLst>
  <p:sldIdLst>
    <p:sldId xmlns:r="http://schemas.openxmlformats.org/officeDocument/2006/relationships" id="256" r:id="Rdc23e11e15cc4ca4"/>
    <p:sldId xmlns:r="http://schemas.openxmlformats.org/officeDocument/2006/relationships" id="257" r:id="R7bae48ffa0554d8c"/>
    <p:sldId xmlns:r="http://schemas.openxmlformats.org/officeDocument/2006/relationships" id="258" r:id="R456312f1311e446e"/>
    <p:sldId xmlns:r="http://schemas.openxmlformats.org/officeDocument/2006/relationships" id="259" r:id="Rc579fd6c1c474024"/>
    <p:sldId xmlns:r="http://schemas.openxmlformats.org/officeDocument/2006/relationships" id="260" r:id="Ra34a094d62204fec"/>
    <p:sldId xmlns:r="http://schemas.openxmlformats.org/officeDocument/2006/relationships" id="261" r:id="R77936a1919444b07"/>
    <p:sldId xmlns:r="http://schemas.openxmlformats.org/officeDocument/2006/relationships" id="262" r:id="Ra976a568ccfa4bee"/>
    <p:sldId xmlns:r="http://schemas.openxmlformats.org/officeDocument/2006/relationships" id="263" r:id="R1dd2a54554124db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734fb44010b4ccb" /><Relationship Type="http://schemas.openxmlformats.org/officeDocument/2006/relationships/slideMaster" Target="/ppt/slideMasters/slideMaster1.xml" Id="R2e220b4c83fa41aa" /><Relationship Type="http://schemas.openxmlformats.org/officeDocument/2006/relationships/notesMaster" Target="/ppt/notesMasters/notesMaster1.xml" Id="Rb51a4b11979a4144" /><Relationship Type="http://schemas.openxmlformats.org/officeDocument/2006/relationships/presProps" Target="/ppt/presProps.xml" Id="R7b044f67e034404e" /><Relationship Type="http://schemas.openxmlformats.org/officeDocument/2006/relationships/tableStyles" Target="/ppt/tableStyles.xml" Id="R7c4c29a4f61a4110" /><Relationship Type="http://schemas.openxmlformats.org/officeDocument/2006/relationships/slide" Target="/ppt/slides/slide1.xml" Id="Rdc23e11e15cc4ca4" /><Relationship Type="http://schemas.openxmlformats.org/officeDocument/2006/relationships/slide" Target="/ppt/slides/slide2.xml" Id="R7bae48ffa0554d8c" /><Relationship Type="http://schemas.openxmlformats.org/officeDocument/2006/relationships/slide" Target="/ppt/slides/slide3.xml" Id="R456312f1311e446e" /><Relationship Type="http://schemas.openxmlformats.org/officeDocument/2006/relationships/slide" Target="/ppt/slides/slide4.xml" Id="Rc579fd6c1c474024" /><Relationship Type="http://schemas.openxmlformats.org/officeDocument/2006/relationships/slide" Target="/ppt/slides/slide5.xml" Id="Ra34a094d62204fec" /><Relationship Type="http://schemas.openxmlformats.org/officeDocument/2006/relationships/slide" Target="/ppt/slides/slide6.xml" Id="R77936a1919444b07" /><Relationship Type="http://schemas.openxmlformats.org/officeDocument/2006/relationships/slide" Target="/ppt/slides/slide7.xml" Id="Ra976a568ccfa4bee" /><Relationship Type="http://schemas.openxmlformats.org/officeDocument/2006/relationships/slide" Target="/ppt/slides/slide8.xml" Id="R1dd2a54554124db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b81b695c0824d1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91641623882439b" /><Relationship Type="http://schemas.openxmlformats.org/officeDocument/2006/relationships/notesMaster" Target="/ppt/notesMasters/notesMaster1.xml" Id="R1a31c419278644e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b866f8a95a44fc1" /><Relationship Type="http://schemas.openxmlformats.org/officeDocument/2006/relationships/notesMaster" Target="/ppt/notesMasters/notesMaster1.xml" Id="Rcc8d34deb1274db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071267f728344f6" /><Relationship Type="http://schemas.openxmlformats.org/officeDocument/2006/relationships/notesMaster" Target="/ppt/notesMasters/notesMaster1.xml" Id="R7057702048a5480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9c564ad977b4b27" /><Relationship Type="http://schemas.openxmlformats.org/officeDocument/2006/relationships/notesMaster" Target="/ppt/notesMasters/notesMaster1.xml" Id="R0edb4f75f8be454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6406310d25f45b2" /><Relationship Type="http://schemas.openxmlformats.org/officeDocument/2006/relationships/notesMaster" Target="/ppt/notesMasters/notesMaster1.xml" Id="R1d76ec1c1fdf4c0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20194012b2c4fe6" /><Relationship Type="http://schemas.openxmlformats.org/officeDocument/2006/relationships/notesMaster" Target="/ppt/notesMasters/notesMaster1.xml" Id="Rdd13496748bd459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a9ef5affdfd4216" /><Relationship Type="http://schemas.openxmlformats.org/officeDocument/2006/relationships/notesMaster" Target="/ppt/notesMasters/notesMaster1.xml" Id="Re2aa9beb27614db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439981a1c1e4866" /><Relationship Type="http://schemas.openxmlformats.org/officeDocument/2006/relationships/notesMaster" Target="/ppt/notesMasters/notesMaster1.xml" Id="R53861c23ae324c0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Internal review deck. Current implementation evidence and release blockers.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MeitY DPDP Act 2023 and DPDP Rules 2025; RBI card-on-file storage restriction RBI/2022-23/77; RBI payment-system storage FAQ.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e92c5467c145d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13e14d208bf4274" /><Relationship Type="http://schemas.openxmlformats.org/officeDocument/2006/relationships/slideLayout" Target="/ppt/slideLayouts/slideLayout1.xml" Id="Rba16b2604d89474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a16b2604d89474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d9e8ef823e4652" /><Relationship Type="http://schemas.openxmlformats.org/officeDocument/2006/relationships/notesSlide" Target="/ppt/notesSlides/notesSlide1.xml" Id="R2478ddb5747f44f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081c7834bf4871" /><Relationship Type="http://schemas.openxmlformats.org/officeDocument/2006/relationships/notesSlide" Target="/ppt/notesSlides/notesSlide2.xml" Id="Rf6f2c133cce74b2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0f60adced34f4c" /><Relationship Type="http://schemas.openxmlformats.org/officeDocument/2006/relationships/notesSlide" Target="/ppt/notesSlides/notesSlide3.xml" Id="R7e953838482c4f4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b25f64bb5e40e7" /><Relationship Type="http://schemas.openxmlformats.org/officeDocument/2006/relationships/notesSlide" Target="/ppt/notesSlides/notesSlide4.xml" Id="R9b9300641c1c440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3654008c5c49a8" /><Relationship Type="http://schemas.openxmlformats.org/officeDocument/2006/relationships/notesSlide" Target="/ppt/notesSlides/notesSlide5.xml" Id="R974a34eb03bd47e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1effde433e4cf4" /><Relationship Type="http://schemas.openxmlformats.org/officeDocument/2006/relationships/notesSlide" Target="/ppt/notesSlides/notesSlide6.xml" Id="R1c18a38f451a445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a43ed735b747fd" /><Relationship Type="http://schemas.openxmlformats.org/officeDocument/2006/relationships/notesSlide" Target="/ppt/notesSlides/notesSlide7.xml" Id="Re55e497f7cd543d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4148c10d2249d5" /><Relationship Type="http://schemas.openxmlformats.org/officeDocument/2006/relationships/notesSlide" Target="/ppt/notesSlides/notesSlide8.xml" Id="R7b352791f33f40b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C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D1DEF4-C1A8-4019-90D6-26DA2A0E1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219200"/>
            <a:ext cx="666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buNone/>
              <a:defRPr sz="42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420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Cause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46839F-C33E-451D-9F66-3F9B65326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85975"/>
            <a:ext cx="733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667"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B7C8D8"/>
                </a:solidFill>
                <a:latin typeface="Helvetica"/>
                <a:ea typeface="Helvetica"/>
                <a:cs typeface="Helvetica"/>
              </a:defRPr>
            </a:pPr>
            <a:r>
              <a:rPr sz="1875" b="0">
                <a:solidFill>
                  <a:srgbClr val="B7C8D8"/>
                </a:solidFill>
                <a:latin typeface="Helvetica"/>
                <a:ea typeface="Helvetica"/>
                <a:cs typeface="Helvetica"/>
              </a:rPr>
              <a:t>Legal and production readiness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5BB518-ECCF-4D40-830D-D3E11DED9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200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C7B7"/>
          </a:solidFill>
          <a:ln xmlns:a="http://schemas.openxmlformats.org/drawingml/2006/main" w="0">
            <a:solidFill>
              <a:srgbClr val="53C7B7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0BA6C1-8429-4D07-A31A-9C17F9DF9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67050"/>
            <a:ext cx="723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D7E0ED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D7E0ED"/>
                </a:solidFill>
                <a:latin typeface="Helvetica"/>
                <a:ea typeface="Helvetica"/>
                <a:cs typeface="Helvetica"/>
              </a:rPr>
              <a:t>Financial exception investigation and risk management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24948E-E1E5-429A-8BD4-89E8C657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34000"/>
            <a:ext cx="571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9FB0C3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solidFill>
                  <a:srgbClr val="9FB0C3"/>
                </a:solidFill>
                <a:latin typeface="Helvetica"/>
                <a:ea typeface="Helvetica"/>
                <a:cs typeface="Helvetica"/>
              </a:rPr>
              <a:t>Prepared for legal, privacy, security and business review</a:t>
            </a:r>
          </a:p>
          <a:p xmlns:a="http://schemas.openxmlformats.org/drawingml/2006/main">
            <a:pPr>
              <a:buNone/>
              <a:defRPr sz="1200" b="0">
                <a:solidFill>
                  <a:srgbClr val="9FB0C3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solidFill>
                  <a:srgbClr val="9FB0C3"/>
                </a:solidFill>
                <a:latin typeface="Helvetica"/>
                <a:ea typeface="Helvetica"/>
                <a:cs typeface="Helvetica"/>
              </a:rPr>
              <a:t>26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9477002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70BB6A-7AA4-4C01-ADFC-F5E86118E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71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CAUSE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4AB2E3-E980-4546-9264-31E90C21B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3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66758B"/>
                </a:solidFill>
                <a:latin typeface="Helvetica"/>
                <a:ea typeface="Helvetica"/>
                <a:cs typeface="Helvetica"/>
              </a:defRPr>
            </a:pPr>
            <a:r>
              <a:rPr sz="900" b="1">
                <a:solidFill>
                  <a:srgbClr val="66758B"/>
                </a:solidFill>
                <a:latin typeface="Helvetica"/>
                <a:ea typeface="Helvetica"/>
                <a:cs typeface="Helvetica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05CABA-F709-41CF-B286-95E3A51A5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2325" b="1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Application scope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77FA98-040A-4A72-AEB4-30A185161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66758B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66758B"/>
                </a:solidFill>
                <a:latin typeface="Helvetica"/>
                <a:ea typeface="Helvetica"/>
                <a:cs typeface="Helvetica"/>
              </a:rPr>
              <a:t>What Cause AI does today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1D947F-5AB5-47A7-8DD7-037B8DF86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solidFill>
              <a:srgbClr val="D9E3E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91EC8E-D1DD-48D0-807C-F362E8622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383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619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7DED3F-1ECA-4F61-88AE-1CBF33E6F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23837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Detects payment-operation exceptions from normalized financial records and preserves evidence references.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7E5E2E-2AFD-4D2C-9D15-9AA6E7A12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432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619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F4658D-C11E-4780-8C4A-DF48B43EA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4322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Creates tenant-scoped cases, investigation tickets and append-only audit events.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2E0378-E21A-448C-8DA6-AB02B8E78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480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619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E19234-2686-40D5-9D64-5796B1114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4807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Uses deterministic rules and explainable risk assessment. Human reviewers retain final authority.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2CD8BD-9839-44AA-8BD6-22E68722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529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619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465D27-3CBD-4A15-A4B5-3BC47A49A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5292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Runs as an approved synthetic-data demo on local loopback infrastructure.</a:t>
            </a:r>
          </a:p>
        </p:txBody>
      </p:sp>
    </p:spTree>
    <p:extLst>
      <p:ext uri="{BB962C8B-B14F-4D97-AF65-F5344CB8AC3E}">
        <p14:creationId xmlns:p14="http://schemas.microsoft.com/office/powerpoint/2010/main" val="20516047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58E298-60C1-4EE6-9C8C-E93A2CBD0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71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CAUSE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348349-84D1-435A-88A9-7C94A3379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3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66758B"/>
                </a:solidFill>
                <a:latin typeface="Helvetica"/>
                <a:ea typeface="Helvetica"/>
                <a:cs typeface="Helvetica"/>
              </a:defRPr>
            </a:pPr>
            <a:r>
              <a:rPr sz="900" b="1">
                <a:solidFill>
                  <a:srgbClr val="66758B"/>
                </a:solidFill>
                <a:latin typeface="Helvetica"/>
                <a:ea typeface="Helvetica"/>
                <a:cs typeface="Helvetica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858910-2983-4EE1-A19D-4FCA9EF88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2325" b="1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Financial data controls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BDA4E4-D9A4-414F-B812-1F8CA0142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66758B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66758B"/>
                </a:solidFill>
                <a:latin typeface="Helvetica"/>
                <a:ea typeface="Helvetica"/>
                <a:cs typeface="Helvetica"/>
              </a:rPr>
              <a:t>Controls added around imports and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DECAA4-1162-4421-8E9A-1CA92309E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solidFill>
              <a:srgbClr val="D9E3E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24EBE1-D7D7-4CD7-ADED-581E6A5E2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383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619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67D44D-7963-44E7-AC49-083423937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23837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Immutable financial-event records include tenant scope, source identity, SHA-256 content hash and ingestion time.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F0768E-B175-40E5-892E-F31AB49CB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432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619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776CE2-D7A7-4094-8D4C-6344BCAC8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4322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Changed replay of a source record returns a conflict instead of silently replacing evidence.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00A754-8510-4D9D-B422-9E39A8800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480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619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005D1F-0815-46A1-8060-C26032865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4807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The Razorpay connector requires an explicit live-mode flag and tenant match before any read-only import.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7E8405-909C-4E23-8DA7-8134859E2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529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619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8ACB5B-479C-4D6E-95C0-278C2059B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5292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Normalized import data excludes raw email and card details from the connector output.</a:t>
            </a:r>
          </a:p>
        </p:txBody>
      </p:sp>
    </p:spTree>
    <p:extLst>
      <p:ext uri="{BB962C8B-B14F-4D97-AF65-F5344CB8AC3E}">
        <p14:creationId xmlns:p14="http://schemas.microsoft.com/office/powerpoint/2010/main" val="17897434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05F276-8372-4B59-BE21-DED5CEE5D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71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CAUSE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4D2F22-868C-4A7A-9C07-2507A0DF0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3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66758B"/>
                </a:solidFill>
                <a:latin typeface="Helvetica"/>
                <a:ea typeface="Helvetica"/>
                <a:cs typeface="Helvetica"/>
              </a:defRPr>
            </a:pPr>
            <a:r>
              <a:rPr sz="900" b="1">
                <a:solidFill>
                  <a:srgbClr val="66758B"/>
                </a:solidFill>
                <a:latin typeface="Helvetica"/>
                <a:ea typeface="Helvetica"/>
                <a:cs typeface="Helvetica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7B0789-4694-4862-BFEB-10509DD1E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2325" b="1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Security controls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246E70-A972-4C3C-8C2B-051B5738A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66758B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66758B"/>
                </a:solidFill>
                <a:latin typeface="Helvetica"/>
                <a:ea typeface="Helvetica"/>
                <a:cs typeface="Helvetica"/>
              </a:rPr>
              <a:t>Backend behavior verified by automated tests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E49117-784E-4ABA-BEA0-274AEA0F1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solidFill>
              <a:srgbClr val="D9E3E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9A3999-8B15-409B-A52B-44D379E4A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383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619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370A93-96B5-4105-B35A-5A559CDA2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23837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Tenant isolation, role checks, same-origin writes and immutable audit records protect core workflows.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478962-E6D0-4871-9776-ECDD5FBDD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432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619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D744C6-A0FE-40A0-BFE2-91937C4ED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4322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The HTTP layer applies CSP, no-store responses, MIME-sniffing protection and clickjacking protection.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1ABBCC-BEE3-418F-9B1C-8B37E7C95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480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619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26F0B9-A47A-41F1-8242-6E65DE2BD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4807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Request-size limits, malformed Content-Length handling, session expiry and login throttling reduce common abuse paths.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3261AE-A2E7-41C1-A9C8-B0B0E01D5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529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619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9A1859-2384-4ACD-B092-D1EDBF4EA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5292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Health checks verify database access and report the active schema version.</a:t>
            </a:r>
          </a:p>
        </p:txBody>
      </p:sp>
    </p:spTree>
    <p:extLst>
      <p:ext uri="{BB962C8B-B14F-4D97-AF65-F5344CB8AC3E}">
        <p14:creationId xmlns:p14="http://schemas.microsoft.com/office/powerpoint/2010/main" val="6240615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4EDA0E-EBAA-4391-9FE4-2F2487C99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71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CAUSE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8B340E-C3E6-49F4-A91B-3956C6AB0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3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66758B"/>
                </a:solidFill>
                <a:latin typeface="Helvetica"/>
                <a:ea typeface="Helvetica"/>
                <a:cs typeface="Helvetica"/>
              </a:defRPr>
            </a:pPr>
            <a:r>
              <a:rPr sz="900" b="1">
                <a:solidFill>
                  <a:srgbClr val="66758B"/>
                </a:solidFill>
                <a:latin typeface="Helvetica"/>
                <a:ea typeface="Helvetica"/>
                <a:cs typeface="Helvetica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19584A-6E1B-4CD8-B8BE-90EE7C3AB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2325" b="1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Legal and privacy package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8BB621-52D0-4F43-BFFC-1EB983EE3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66758B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66758B"/>
                </a:solidFill>
                <a:latin typeface="Helvetica"/>
                <a:ea typeface="Helvetica"/>
                <a:cs typeface="Helvetica"/>
              </a:rPr>
              <a:t>Templates require legal completion before publication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D86D58-CEA4-4B0E-A3B7-D7CCE663F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solidFill>
              <a:srgbClr val="D9E3E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ADE5F4-DC9A-44E7-9140-314174084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383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619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C394AC-637C-4C18-B0A8-9AD669ED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23837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Terms cover authorised access, acceptable use, confidentiality, customer responsibility and service limits.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B88176-92BF-4992-9F16-7124916E6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432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619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1D3878-D147-4238-84AC-0D142AE35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4322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Privacy notice covers processed data, purpose, sharing, retention, data rights and incident handling.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55FB0C-D8F2-4D40-B195-58478CB99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480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619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09569E-5DA9-4F25-BF2E-A70D829CB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4807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India review includes DPDP, RBI payment-data restrictions, localisation requirements and applicable NPCI or UPI obligations.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60D3D4-8ADD-4B6F-86C8-A35656B97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529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619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042F51-EC1F-4B19-8235-9D6EAB15B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5292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The template contains placeholders for the legal entity, privacy contact, processors, retention schedule and jurisdiction terms.</a:t>
            </a:r>
          </a:p>
        </p:txBody>
      </p:sp>
    </p:spTree>
    <p:extLst>
      <p:ext uri="{BB962C8B-B14F-4D97-AF65-F5344CB8AC3E}">
        <p14:creationId xmlns:p14="http://schemas.microsoft.com/office/powerpoint/2010/main" val="17931262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C2D4DA-2D9C-4C3F-A8AE-6086B5754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71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CAUSE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A9420C-45DF-43FF-85A4-B340EA10D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3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66758B"/>
                </a:solidFill>
                <a:latin typeface="Helvetica"/>
                <a:ea typeface="Helvetica"/>
                <a:cs typeface="Helvetica"/>
              </a:defRPr>
            </a:pPr>
            <a:r>
              <a:rPr sz="900" b="1">
                <a:solidFill>
                  <a:srgbClr val="66758B"/>
                </a:solidFill>
                <a:latin typeface="Helvetica"/>
                <a:ea typeface="Helvetica"/>
                <a:cs typeface="Helvetica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B38E28-5724-4847-8607-2850C73DB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2325" b="1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Production readiness score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67AD0F-B42B-410E-83AB-353AA599B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66758B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66758B"/>
                </a:solidFill>
                <a:latin typeface="Helvetica"/>
                <a:ea typeface="Helvetica"/>
                <a:cs typeface="Helvetica"/>
              </a:rPr>
              <a:t>Evidence-based assessment as of 26 September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51AF5B-AACC-4EAD-9BAC-CDD7BAFF6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solidFill>
              <a:srgbClr val="D9E3E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56FA12-8EE7-4EA7-B4A0-89F91CA90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28875"/>
            <a:ext cx="2476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7950" b="1">
                <a:solidFill>
                  <a:srgbClr val="A83C4A"/>
                </a:solidFill>
                <a:latin typeface="Helvetica"/>
                <a:ea typeface="Helvetica"/>
                <a:cs typeface="Helvetica"/>
              </a:defRPr>
            </a:pPr>
            <a:r>
              <a:rPr sz="7950" b="1">
                <a:solidFill>
                  <a:srgbClr val="A83C4A"/>
                </a:solidFill>
                <a:latin typeface="Helvetica"/>
                <a:ea typeface="Helvetica"/>
                <a:cs typeface="Helvetica"/>
              </a:rPr>
              <a:t>43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EB7257-8496-448F-8BE0-9D7645180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100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66758B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66758B"/>
                </a:solidFill>
                <a:latin typeface="Helvetica"/>
                <a:ea typeface="Helvetica"/>
                <a:cs typeface="Helvetica"/>
              </a:rPr>
              <a:t>out of 100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10798C-FDC5-48CF-9BD3-B0C15640E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67000"/>
            <a:ext cx="6667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F1"/>
          </a:solidFill>
          <a:ln xmlns:a="http://schemas.openxmlformats.org/drawingml/2006/main" w="0">
            <a:solidFill>
              <a:srgbClr val="E6EBF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6A594C-C819-4B35-8010-A7D18078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952750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32"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The score credits implemented application controls and 66 passing automated checks.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30FAD5-533C-493F-91D8-1445BA599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762375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500"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It excludes planned architecture, draft legal terms and controls that do not yet operate in production.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B67655-77F1-436E-848A-0220B1AF3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667250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A83C4A"/>
                </a:solidFill>
                <a:latin typeface="Helvetica"/>
                <a:ea typeface="Helvetica"/>
                <a:cs typeface="Helvetica"/>
              </a:defRPr>
            </a:pPr>
            <a:r>
              <a:rPr sz="1500" b="1">
                <a:solidFill>
                  <a:srgbClr val="A83C4A"/>
                </a:solidFill>
                <a:latin typeface="Helvetica"/>
                <a:ea typeface="Helvetica"/>
                <a:cs typeface="Helvetica"/>
              </a:rPr>
              <a:t>Production launch remains blocked by design.</a:t>
            </a:r>
          </a:p>
        </p:txBody>
      </p:sp>
    </p:spTree>
    <p:extLst>
      <p:ext uri="{BB962C8B-B14F-4D97-AF65-F5344CB8AC3E}">
        <p14:creationId xmlns:p14="http://schemas.microsoft.com/office/powerpoint/2010/main" val="17945508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74720B-7CC7-474C-81E5-AE26EDB44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71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CAUSE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DB66A7-6604-4EDC-8836-43AAFAA4E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3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66758B"/>
                </a:solidFill>
                <a:latin typeface="Helvetica"/>
                <a:ea typeface="Helvetica"/>
                <a:cs typeface="Helvetica"/>
              </a:defRPr>
            </a:pPr>
            <a:r>
              <a:rPr sz="900" b="1">
                <a:solidFill>
                  <a:srgbClr val="66758B"/>
                </a:solidFill>
                <a:latin typeface="Helvetica"/>
                <a:ea typeface="Helvetica"/>
                <a:cs typeface="Helvetica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814A85-DBDB-4230-AA8E-4199082E5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2325" b="1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Release blockers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92DDA9-48E5-4014-B07E-FBC5EEF45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66758B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66758B"/>
                </a:solidFill>
                <a:latin typeface="Helvetica"/>
                <a:ea typeface="Helvetica"/>
                <a:cs typeface="Helvetica"/>
              </a:rPr>
              <a:t>Controls the workspace cannot truthfully claim as complete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C88337-C4E4-4724-A936-42B62FACD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solidFill>
              <a:srgbClr val="D9E3E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DCA9CA-DFDF-4DE5-BC37-40A13F2C7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2421"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275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AB590D-44CF-4959-BD9F-A7B3A76B3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90750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275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Managed database, encrypted and tested backups, disaster recovery, TLS ingress, WAF, secrets manager and central observability.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623869-1FA9-44CC-B009-3BA830296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2421"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275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A88D1C-1854-4BD6-9DB9-DF52D5054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95600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275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Company identity provider, MFA, SSO, lifecycle provisioning and privileged-access administration.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57E6C2-98FC-4BA8-AAD4-3550F7E75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0045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2421"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275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1354B6-5BA2-4935-811C-8FFFCBAFF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00450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275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Authorized Razorpay production credentials, webhook verification, settlement and refund sources, plus reconciliation approval.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5A3600-3A83-4378-9B46-04F335AB7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053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2421"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275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4EB159-E33B-4553-84C9-D8F8216A9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05300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275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Independent VAPT, penetration testing, load testing, incident exercise, legal approval and signed customer agreements.</a:t>
            </a:r>
          </a:p>
        </p:txBody>
      </p:sp>
    </p:spTree>
    <p:extLst>
      <p:ext uri="{BB962C8B-B14F-4D97-AF65-F5344CB8AC3E}">
        <p14:creationId xmlns:p14="http://schemas.microsoft.com/office/powerpoint/2010/main" val="21216255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95D0B8-B2FC-4AA4-ACC6-84323174C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718"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975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CAUSE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08D50E-D14F-4F9E-83DC-99CF97222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333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66758B"/>
                </a:solidFill>
                <a:latin typeface="Helvetica"/>
                <a:ea typeface="Helvetica"/>
                <a:cs typeface="Helvetica"/>
              </a:defRPr>
            </a:pPr>
            <a:r>
              <a:rPr sz="900" b="1">
                <a:solidFill>
                  <a:srgbClr val="66758B"/>
                </a:solidFill>
                <a:latin typeface="Helvetica"/>
                <a:ea typeface="Helvetica"/>
                <a:cs typeface="Helvetica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12E794-5704-47FF-96DC-5F1996731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9057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2325" b="1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Submission decision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50887F-9C25-4EC9-B164-1CD26CCF1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66758B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66758B"/>
                </a:solidFill>
                <a:latin typeface="Helvetica"/>
                <a:ea typeface="Helvetica"/>
                <a:cs typeface="Helvetica"/>
              </a:rPr>
              <a:t>Recommended next actions for legal and production owners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D29C73-1BB6-43B7-A11A-577009FD1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EA"/>
          </a:solidFill>
          <a:ln xmlns:a="http://schemas.openxmlformats.org/drawingml/2006/main" w="0">
            <a:solidFill>
              <a:srgbClr val="D9E3E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25A0F7-4AB5-4B1C-924C-80C694184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383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619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848D95-4D70-44D1-8E9A-69B4DB8F7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23837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Legal team completes the company-specific placeholders and approves the Terms, Privacy Notice and DPA.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60A852-AFAC-4C7F-8C73-ED72369A1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432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619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85FCC4-85B9-4AD0-AAB6-C3B6B3209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4322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Security and platform teams implement the required production environment and produce operational evidence.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B301B7-A0DC-44AC-AFB1-09CE3D3C3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4807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619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C8878B-9E0A-4887-BA9E-8DAE7568B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4807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Payments owners approve real Razorpay integration scope, credentials, webhook controls and reconciliation rules.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058B0B-917F-46DC-B44D-49F7BB92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529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0619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47D78"/>
                </a:solidFill>
                <a:latin typeface="Helvetica"/>
                <a:ea typeface="Helvetica"/>
                <a:cs typeface="Helvetica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677A76-1F12-48AA-8D30-229EDAAFD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52925"/>
            <a:ext cx="990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17253C"/>
                </a:solidFill>
                <a:latin typeface="Helvetica"/>
                <a:ea typeface="Helvetica"/>
                <a:cs typeface="Helvetica"/>
              </a:rPr>
              <a:t>Release authority reassesses the score after independent testing and documented control acceptance.</a:t>
            </a:r>
          </a:p>
        </p:txBody>
      </p:sp>
    </p:spTree>
    <p:extLst>
      <p:ext uri="{BB962C8B-B14F-4D97-AF65-F5344CB8AC3E}">
        <p14:creationId xmlns:p14="http://schemas.microsoft.com/office/powerpoint/2010/main" val="9944827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2026-09-26T19:11:27.9820000Z</dcterms:created>
  <dcterms:modified xsi:type="dcterms:W3CDTF">2026-09-26T19:11:27.9820000Z</dcterms:modified>
</coreProperties>
</file>
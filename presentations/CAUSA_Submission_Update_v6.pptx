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9c4b11c29b42ae" /><Relationship Type="http://schemas.openxmlformats.org/officeDocument/2006/relationships/extended-properties" Target="/docProps/app.xml" Id="R5a58107dde834e7e" /><Relationship Type="http://schemas.openxmlformats.org/officeDocument/2006/relationships/officeDocument" Target="/ppt/presentation.xml" Id="Ra88622d2e84546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3a2a1b1e804eb3"/>
  </p:sldMasterIdLst>
  <p:notesMasterIdLst>
    <p:notesMasterId xmlns:r="http://schemas.openxmlformats.org/officeDocument/2006/relationships" r:id="R9a7bb8ff69e248a4"/>
  </p:notesMasterIdLst>
  <p:sldIdLst>
    <p:sldId xmlns:r="http://schemas.openxmlformats.org/officeDocument/2006/relationships" id="256" r:id="R27696c3ea2524a09"/>
    <p:sldId xmlns:r="http://schemas.openxmlformats.org/officeDocument/2006/relationships" id="257" r:id="R41c4b0312a80455d"/>
    <p:sldId xmlns:r="http://schemas.openxmlformats.org/officeDocument/2006/relationships" id="258" r:id="R3516427fb4414819"/>
    <p:sldId xmlns:r="http://schemas.openxmlformats.org/officeDocument/2006/relationships" id="259" r:id="Rf7a6bc7e541e45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67ad544c8c4f6b" /><Relationship Type="http://schemas.openxmlformats.org/officeDocument/2006/relationships/slideMaster" Target="/ppt/slideMasters/slideMaster1.xml" Id="R873a2a1b1e804eb3" /><Relationship Type="http://schemas.openxmlformats.org/officeDocument/2006/relationships/notesMaster" Target="/ppt/notesMasters/notesMaster1.xml" Id="R9a7bb8ff69e248a4" /><Relationship Type="http://schemas.openxmlformats.org/officeDocument/2006/relationships/presProps" Target="/ppt/presProps.xml" Id="Rbf430abfc0fb4bc8" /><Relationship Type="http://schemas.openxmlformats.org/officeDocument/2006/relationships/tableStyles" Target="/ppt/tableStyles.xml" Id="R93cc2794963545f8" /><Relationship Type="http://schemas.openxmlformats.org/officeDocument/2006/relationships/slide" Target="/ppt/slides/slide1.xml" Id="R27696c3ea2524a09" /><Relationship Type="http://schemas.openxmlformats.org/officeDocument/2006/relationships/slide" Target="/ppt/slides/slide2.xml" Id="R41c4b0312a80455d" /><Relationship Type="http://schemas.openxmlformats.org/officeDocument/2006/relationships/slide" Target="/ppt/slides/slide3.xml" Id="R3516427fb4414819" /><Relationship Type="http://schemas.openxmlformats.org/officeDocument/2006/relationships/slide" Target="/ppt/slides/slide4.xml" Id="Rf7a6bc7e541e45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093fc7710643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6a3e2c08344172" /><Relationship Type="http://schemas.openxmlformats.org/officeDocument/2006/relationships/notesMaster" Target="/ppt/notesMasters/notesMaster1.xml" Id="Rabc17d1f373c48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1c398304e84ccc" /><Relationship Type="http://schemas.openxmlformats.org/officeDocument/2006/relationships/notesMaster" Target="/ppt/notesMasters/notesMaster1.xml" Id="R03ba4cca608946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c07d35749045eb" /><Relationship Type="http://schemas.openxmlformats.org/officeDocument/2006/relationships/notesMaster" Target="/ppt/notesMasters/notesMaster1.xml" Id="R4400c5cf708844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1ee60817d04038" /><Relationship Type="http://schemas.openxmlformats.org/officeDocument/2006/relationships/notesMaster" Target="/ppt/notesMasters/notesMaster1.xml" Id="R7f57f742795a45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7294321314f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a0f913e4124ca0" /><Relationship Type="http://schemas.openxmlformats.org/officeDocument/2006/relationships/slideLayout" Target="/ppt/slideLayouts/slideLayout1.xml" Id="Rd8f5d1bdc4e5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f5d1bdc4e5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7b04584424399" /><Relationship Type="http://schemas.openxmlformats.org/officeDocument/2006/relationships/notesSlide" Target="/ppt/notesSlides/notesSlide1.xml" Id="R87dc6de3d49e44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d203c770a4514" /><Relationship Type="http://schemas.openxmlformats.org/officeDocument/2006/relationships/notesSlide" Target="/ppt/notesSlides/notesSlide2.xml" Id="Rcf56ea68772d43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e2a88fa87426f" /><Relationship Type="http://schemas.openxmlformats.org/officeDocument/2006/relationships/notesSlide" Target="/ppt/notesSlides/notesSlide3.xml" Id="R98b2b204482545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74144612b42b8" /><Relationship Type="http://schemas.openxmlformats.org/officeDocument/2006/relationships/notesSlide" Target="/ppt/notesSlides/notesSlide4.xml" Id="R4e36ac1a79ea43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70850-E6B2-40CF-99A7-4954752A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D78"/>
                </a:solidFill>
              </a:defRPr>
            </a:pPr>
            <a:r>
              <a:rPr sz="1200" b="1">
                <a:solidFill>
                  <a:srgbClr val="147D78"/>
                </a:solidFill>
              </a:rPr>
              <a:t>CAUSA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EA306-9703-42F4-80D0-84B67226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53C"/>
                </a:solidFill>
              </a:defRPr>
            </a:pPr>
            <a:r>
              <a:rPr sz="2550" b="1">
                <a:solidFill>
                  <a:srgbClr val="17253C"/>
                </a:solidFill>
              </a:rPr>
              <a:t>Causa submission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F6336-B325-48D3-9A88-BEE1A21F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AI Financial Exception Resolution and Risk Management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677B7-1383-4950-A9E4-FA340FC5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53C"/>
                </a:solidFill>
              </a:defRPr>
            </a:pPr>
            <a:r>
              <a:rPr sz="2025" b="1">
                <a:solidFill>
                  <a:srgbClr val="17253C"/>
                </a:solidFill>
              </a:rPr>
              <a:t>Evidence-driven financial exception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3C101-93EC-40A3-A1EF-6852EB69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Synthetic demonstration data only. No real payment credentials or production financial records are used.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D9484-E7CE-4F8E-8A7F-352D3B4A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D78"/>
                </a:solidFill>
              </a:defRPr>
            </a:pPr>
            <a:r>
              <a:rPr sz="1350" b="1">
                <a:solidFill>
                  <a:srgbClr val="147D78"/>
                </a:solidFill>
              </a:rPr>
              <a:t>Current status: SUBMISSION_READY_WITH_DOCUMENTED_LIMITATIONS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D3649-E063-4F96-9FA1-38A721EB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Public demo: causa-ai-financial-exception.vercel.app</a:t>
            </a:r>
          </a:p>
        </p:txBody>
      </p:sp>
    </p:spTree>
    <p:extLst>
      <p:ext uri="{BB962C8B-B14F-4D97-AF65-F5344CB8AC3E}">
        <p14:creationId xmlns:p14="http://schemas.microsoft.com/office/powerpoint/2010/main" val="1917967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AA331-5CE6-422A-8C0B-F6F3CBCB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D78"/>
                </a:solidFill>
              </a:defRPr>
            </a:pPr>
            <a:r>
              <a:rPr sz="1200" b="1">
                <a:solidFill>
                  <a:srgbClr val="147D78"/>
                </a:solidFill>
              </a:rPr>
              <a:t>CAUSA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6B6C9-0CCA-4AC8-9BF6-3AC2C169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53C"/>
                </a:solidFill>
              </a:defRPr>
            </a:pPr>
            <a:r>
              <a:rPr sz="2550" b="1">
                <a:solidFill>
                  <a:srgbClr val="17253C"/>
                </a:solidFill>
              </a:rPr>
              <a:t>Bounded AI investigation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588F1-1A30-41D2-A070-96D4E03D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AI assists investigation; deterministic services retain financial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2182E-E5D7-4CB7-BFB7-E50E2A66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0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8"/>
                </a:solidFill>
              </a:defRPr>
            </a:pPr>
            <a:r>
              <a:rPr sz="1650" b="1">
                <a:solidFill>
                  <a:srgbClr val="147D7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7AE3E-C82F-477C-904F-C6DD7F4F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53C"/>
                </a:solidFill>
              </a:defRPr>
            </a:pPr>
            <a:r>
              <a:rPr sz="1425" b="0">
                <a:solidFill>
                  <a:srgbClr val="17253C"/>
                </a:solidFill>
              </a:rPr>
              <a:t>Optional providers: local Ollama or intentionally configured Gemini free-tier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0A5A4-D6B3-40A6-90AF-FCFB767A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0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8"/>
                </a:solidFill>
              </a:defRPr>
            </a:pPr>
            <a:r>
              <a:rPr sz="1650" b="1">
                <a:solidFill>
                  <a:srgbClr val="147D7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92434-B261-4602-AB9A-6579540C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53C"/>
                </a:solidFill>
              </a:defRPr>
            </a:pPr>
            <a:r>
              <a:rPr sz="1425" b="0">
                <a:solidFill>
                  <a:srgbClr val="17253C"/>
                </a:solidFill>
              </a:rPr>
              <a:t>Controlled context includes exception, evidence, risk, policy, timeline and deterministic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F1980-1CA4-471A-ACE1-D8454EC4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0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8"/>
                </a:solidFill>
              </a:defRPr>
            </a:pPr>
            <a:r>
              <a:rPr sz="1650" b="1">
                <a:solidFill>
                  <a:srgbClr val="147D7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3EAF5-4331-4BC4-8B4E-A19B92C0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53C"/>
                </a:solidFill>
              </a:defRPr>
            </a:pPr>
            <a:r>
              <a:rPr sz="1425" b="0">
                <a:solidFill>
                  <a:srgbClr val="17253C"/>
                </a:solidFill>
              </a:rPr>
              <a:t>Strict schema validates findings, root-cause status, evidence IDs, unknowns, conflicts and route recommendation.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BAE9E-BD67-42E5-9AE6-80AD3A18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0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8"/>
                </a:solidFill>
              </a:defRPr>
            </a:pPr>
            <a:r>
              <a:rPr sz="1650" b="1">
                <a:solidFill>
                  <a:srgbClr val="147D7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85753-4E29-4A4D-858F-3670866C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53C"/>
                </a:solidFill>
              </a:defRPr>
            </a:pPr>
            <a:r>
              <a:rPr sz="1425" b="0">
                <a:solidFill>
                  <a:srgbClr val="17253C"/>
                </a:solidFill>
              </a:rPr>
              <a:t>Fallback is visibly labelled deterministic when an AI provider is unavailable or invalid.</a:t>
            </a:r>
          </a:p>
        </p:txBody>
      </p:sp>
    </p:spTree>
    <p:extLst>
      <p:ext uri="{BB962C8B-B14F-4D97-AF65-F5344CB8AC3E}">
        <p14:creationId xmlns:p14="http://schemas.microsoft.com/office/powerpoint/2010/main" val="1423131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50282-E30F-43DA-9A1A-236A1424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D78"/>
                </a:solidFill>
              </a:defRPr>
            </a:pPr>
            <a:r>
              <a:rPr sz="1200" b="1">
                <a:solidFill>
                  <a:srgbClr val="147D78"/>
                </a:solidFill>
              </a:rPr>
              <a:t>CAUSA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80172-70DA-4FFF-B07D-6337311C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53C"/>
                </a:solidFill>
              </a:defRPr>
            </a:pPr>
            <a:r>
              <a:rPr sz="2550" b="1">
                <a:solidFill>
                  <a:srgbClr val="17253C"/>
                </a:solidFill>
              </a:rPr>
              <a:t>Safety and decision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F8D83-425B-4B74-AFAC-694BD3B4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Evidence proves. Rules constrain. Humans govern consequential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346F9-52DA-434B-8C34-D128AB39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0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8"/>
                </a:solidFill>
              </a:defRPr>
            </a:pPr>
            <a:r>
              <a:rPr sz="1650" b="1">
                <a:solidFill>
                  <a:srgbClr val="147D7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B972B-5456-4853-8916-1DFE27DE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53C"/>
                </a:solidFill>
              </a:defRPr>
            </a:pPr>
            <a:r>
              <a:rPr sz="1425" b="0">
                <a:solidFill>
                  <a:srgbClr val="17253C"/>
                </a:solidFill>
              </a:rPr>
              <a:t>AI cannot approve payments, issue refunds, change financial records, override policy or modify audit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7ADC3-8B99-4D8E-B638-E0E5B25F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0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8"/>
                </a:solidFill>
              </a:defRPr>
            </a:pPr>
            <a:r>
              <a:rPr sz="1650" b="1">
                <a:solidFill>
                  <a:srgbClr val="147D7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EF694-6B51-452D-8ADD-AE275368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53C"/>
                </a:solidFill>
              </a:defRPr>
            </a:pPr>
            <a:r>
              <a:rPr sz="1425" b="0">
                <a:solidFill>
                  <a:srgbClr val="17253C"/>
                </a:solidFill>
              </a:rPr>
              <a:t>Prompt injection text inside records remains untrusted data and cannot authorize an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73F4A-FE29-4171-8F75-4BFD2384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0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8"/>
                </a:solidFill>
              </a:defRPr>
            </a:pPr>
            <a:r>
              <a:rPr sz="1650" b="1">
                <a:solidFill>
                  <a:srgbClr val="147D7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EC47E-CA80-400B-9F3E-FA64BAA9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53C"/>
                </a:solidFill>
              </a:defRPr>
            </a:pPr>
            <a:r>
              <a:rPr sz="1425" b="0">
                <a:solidFill>
                  <a:srgbClr val="17253C"/>
                </a:solidFill>
              </a:rPr>
              <a:t>Cited evidence IDs are validated against the controlled case context before the finding is retained.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85FD7-52E3-45D9-A941-8E3FD136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0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8"/>
                </a:solidFill>
              </a:defRPr>
            </a:pPr>
            <a:r>
              <a:rPr sz="1650" b="1">
                <a:solidFill>
                  <a:srgbClr val="147D7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D87CB-8119-4F0A-A4A7-BB6D1AAF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53C"/>
                </a:solidFill>
              </a:defRPr>
            </a:pPr>
            <a:r>
              <a:rPr sz="1425" b="0">
                <a:solidFill>
                  <a:srgbClr val="17253C"/>
                </a:solidFill>
              </a:rPr>
              <a:t>The policy, risk, permission and decision engines determine approve, reject or escalation outcomes.</a:t>
            </a:r>
          </a:p>
        </p:txBody>
      </p:sp>
    </p:spTree>
    <p:extLst>
      <p:ext uri="{BB962C8B-B14F-4D97-AF65-F5344CB8AC3E}">
        <p14:creationId xmlns:p14="http://schemas.microsoft.com/office/powerpoint/2010/main" val="43762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E78E2-67B3-4F03-ACDE-C571FE06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D78"/>
                </a:solidFill>
              </a:defRPr>
            </a:pPr>
            <a:r>
              <a:rPr sz="1200" b="1">
                <a:solidFill>
                  <a:srgbClr val="147D78"/>
                </a:solidFill>
              </a:rPr>
              <a:t>CAUSA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99D6F-9FF1-4283-8EAB-D7353C26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53C"/>
                </a:solidFill>
              </a:defRPr>
            </a:pPr>
            <a:r>
              <a:rPr sz="2550" b="1">
                <a:solidFill>
                  <a:srgbClr val="17253C"/>
                </a:solidFill>
              </a:rPr>
              <a:t>Verification and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57E1F-1D2E-42F6-B948-3874CAD0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Current implementation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E84E0-4CD9-456E-9EF2-FF28AF3A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0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8"/>
                </a:solidFill>
              </a:defRPr>
            </a:pPr>
            <a:r>
              <a:rPr sz="1650" b="1">
                <a:solidFill>
                  <a:srgbClr val="147D78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078C0-4798-4A5F-BFFC-BED139F6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53C"/>
                </a:solidFill>
              </a:defRPr>
            </a:pPr>
            <a:r>
              <a:rPr sz="1425" b="0">
                <a:solidFill>
                  <a:srgbClr val="17253C"/>
                </a:solidFill>
              </a:rPr>
              <a:t>76 automated tests passed, including AI prompt-injection and missing-evidence safety tests.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B3F23-3D88-4FBC-9E97-9E94725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0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8"/>
                </a:solidFill>
              </a:defRPr>
            </a:pPr>
            <a:r>
              <a:rPr sz="1650" b="1">
                <a:solidFill>
                  <a:srgbClr val="147D78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6CA42-385E-4974-8113-FDD3D9F5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53C"/>
                </a:solidFill>
              </a:defRPr>
            </a:pPr>
            <a:r>
              <a:rPr sz="1425" b="0">
                <a:solidFill>
                  <a:srgbClr val="17253C"/>
                </a:solidFill>
              </a:rPr>
              <a:t>Python compilation, JavaScript syntax validation and Vercel build completed successfully.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B267B-1D8A-4233-A380-780C92A0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0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8"/>
                </a:solidFill>
              </a:defRPr>
            </a:pPr>
            <a:r>
              <a:rPr sz="1650" b="1">
                <a:solidFill>
                  <a:srgbClr val="147D78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5A4E8-6BA2-4AB3-8EC9-E80251CE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53C"/>
                </a:solidFill>
              </a:defRPr>
            </a:pPr>
            <a:r>
              <a:rPr sz="1425" b="0">
                <a:solidFill>
                  <a:srgbClr val="17253C"/>
                </a:solidFill>
              </a:rPr>
              <a:t>Vercel public demo runs synthetic data with ephemeral SQLite state and deterministic fallback by default.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CAD85-B935-47C5-9312-EE81BAF2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0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8"/>
                </a:solidFill>
              </a:defRPr>
            </a:pPr>
            <a:r>
              <a:rPr sz="1650" b="1">
                <a:solidFill>
                  <a:srgbClr val="147D78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75502-B920-47D2-89FE-8E90140D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53C"/>
                </a:solidFill>
              </a:defRPr>
            </a:pPr>
            <a:r>
              <a:rPr sz="1425" b="0">
                <a:solidFill>
                  <a:srgbClr val="17253C"/>
                </a:solidFill>
              </a:rPr>
              <a:t>Future company deployment requires durable PostgreSQL, persistent sessions, identity, object storage, monitoring and approvals.</a:t>
            </a:r>
          </a:p>
        </p:txBody>
      </p:sp>
    </p:spTree>
    <p:extLst>
      <p:ext uri="{BB962C8B-B14F-4D97-AF65-F5344CB8AC3E}">
        <p14:creationId xmlns:p14="http://schemas.microsoft.com/office/powerpoint/2010/main" val="2097973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2026-09-28T08:27:16.3360000Z</dcterms:created>
  <dcterms:modified xsi:type="dcterms:W3CDTF">2026-09-28T08:27:16.3360000Z</dcterms:modified>
</coreProperties>
</file>
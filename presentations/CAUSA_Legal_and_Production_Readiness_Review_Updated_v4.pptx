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1a16fd8caa4b53" /><Relationship Type="http://schemas.openxmlformats.org/officeDocument/2006/relationships/extended-properties" Target="/docProps/app.xml" Id="Rd5d400674edf46cf" /><Relationship Type="http://schemas.openxmlformats.org/officeDocument/2006/relationships/officeDocument" Target="/ppt/presentation.xml" Id="R74f686adc89c43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745b98be4c4e4e"/>
  </p:sldMasterIdLst>
  <p:notesMasterIdLst>
    <p:notesMasterId xmlns:r="http://schemas.openxmlformats.org/officeDocument/2006/relationships" r:id="R2271392928074876"/>
  </p:notesMasterIdLst>
  <p:sldIdLst>
    <p:sldId xmlns:r="http://schemas.openxmlformats.org/officeDocument/2006/relationships" id="256" r:id="Rb1cdf44b01044a96"/>
    <p:sldId xmlns:r="http://schemas.openxmlformats.org/officeDocument/2006/relationships" id="257" r:id="R78293185ea4048d2"/>
    <p:sldId xmlns:r="http://schemas.openxmlformats.org/officeDocument/2006/relationships" id="258" r:id="R93bbfa504bde4948"/>
    <p:sldId xmlns:r="http://schemas.openxmlformats.org/officeDocument/2006/relationships" id="259" r:id="R446d7ca33bcf4df0"/>
    <p:sldId xmlns:r="http://schemas.openxmlformats.org/officeDocument/2006/relationships" id="260" r:id="R6be6eba4b3bf4a3a"/>
    <p:sldId xmlns:r="http://schemas.openxmlformats.org/officeDocument/2006/relationships" id="261" r:id="R37022db8f918424c"/>
    <p:sldId xmlns:r="http://schemas.openxmlformats.org/officeDocument/2006/relationships" id="262" r:id="R04a10979c2664ff8"/>
    <p:sldId xmlns:r="http://schemas.openxmlformats.org/officeDocument/2006/relationships" id="263" r:id="Rd065f1838fc74a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f46cc5366a45cb" /><Relationship Type="http://schemas.openxmlformats.org/officeDocument/2006/relationships/slideMaster" Target="/ppt/slideMasters/slideMaster1.xml" Id="R6c745b98be4c4e4e" /><Relationship Type="http://schemas.openxmlformats.org/officeDocument/2006/relationships/notesMaster" Target="/ppt/notesMasters/notesMaster1.xml" Id="R2271392928074876" /><Relationship Type="http://schemas.openxmlformats.org/officeDocument/2006/relationships/presProps" Target="/ppt/presProps.xml" Id="R9b76e513749842b3" /><Relationship Type="http://schemas.openxmlformats.org/officeDocument/2006/relationships/tableStyles" Target="/ppt/tableStyles.xml" Id="R1b9437b21eb14655" /><Relationship Type="http://schemas.openxmlformats.org/officeDocument/2006/relationships/slide" Target="/ppt/slides/slide1.xml" Id="Rb1cdf44b01044a96" /><Relationship Type="http://schemas.openxmlformats.org/officeDocument/2006/relationships/slide" Target="/ppt/slides/slide2.xml" Id="R78293185ea4048d2" /><Relationship Type="http://schemas.openxmlformats.org/officeDocument/2006/relationships/slide" Target="/ppt/slides/slide3.xml" Id="R93bbfa504bde4948" /><Relationship Type="http://schemas.openxmlformats.org/officeDocument/2006/relationships/slide" Target="/ppt/slides/slide4.xml" Id="R446d7ca33bcf4df0" /><Relationship Type="http://schemas.openxmlformats.org/officeDocument/2006/relationships/slide" Target="/ppt/slides/slide5.xml" Id="R6be6eba4b3bf4a3a" /><Relationship Type="http://schemas.openxmlformats.org/officeDocument/2006/relationships/slide" Target="/ppt/slides/slide6.xml" Id="R37022db8f918424c" /><Relationship Type="http://schemas.openxmlformats.org/officeDocument/2006/relationships/slide" Target="/ppt/slides/slide7.xml" Id="R04a10979c2664ff8" /><Relationship Type="http://schemas.openxmlformats.org/officeDocument/2006/relationships/slide" Target="/ppt/slides/slide8.xml" Id="Rd065f1838fc74a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f0925bff6643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b4c15627214d61" /><Relationship Type="http://schemas.openxmlformats.org/officeDocument/2006/relationships/notesMaster" Target="/ppt/notesMasters/notesMaster1.xml" Id="Rbfa648e6eba64c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fe26881e504a53" /><Relationship Type="http://schemas.openxmlformats.org/officeDocument/2006/relationships/notesMaster" Target="/ppt/notesMasters/notesMaster1.xml" Id="R38b3bfa3bde741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3bb3084c2d4e13" /><Relationship Type="http://schemas.openxmlformats.org/officeDocument/2006/relationships/notesMaster" Target="/ppt/notesMasters/notesMaster1.xml" Id="R59d1282ef7894c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0148874bd04fe0" /><Relationship Type="http://schemas.openxmlformats.org/officeDocument/2006/relationships/notesMaster" Target="/ppt/notesMasters/notesMaster1.xml" Id="Re528dbf1302b4e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f5b1d901ea40d8" /><Relationship Type="http://schemas.openxmlformats.org/officeDocument/2006/relationships/notesMaster" Target="/ppt/notesMasters/notesMaster1.xml" Id="R8d39bf75dcbc44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bb4feaf09c4235" /><Relationship Type="http://schemas.openxmlformats.org/officeDocument/2006/relationships/notesMaster" Target="/ppt/notesMasters/notesMaster1.xml" Id="Re6c503eebf154f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73b263a20547de" /><Relationship Type="http://schemas.openxmlformats.org/officeDocument/2006/relationships/notesMaster" Target="/ppt/notesMasters/notesMaster1.xml" Id="R2bd4f75a9b4f44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c37515a3784e31" /><Relationship Type="http://schemas.openxmlformats.org/officeDocument/2006/relationships/notesMaster" Target="/ppt/notesMasters/notesMaster1.xml" Id="R0fb1cf8c5b2641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review deck. Current implementation evidence and release blockers.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MeitY DPDP Act 2023 and DPDP Rules 2025; RBI card-on-file storage restriction RBI/2022-23/77; RBI payment-system storage FAQ.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14467136cd4a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7fd8689cb24c0f" /><Relationship Type="http://schemas.openxmlformats.org/officeDocument/2006/relationships/slideLayout" Target="/ppt/slideLayouts/slideLayout1.xml" Id="R01cac66278d343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cac66278d343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d0bb40edd4ce5" /><Relationship Type="http://schemas.openxmlformats.org/officeDocument/2006/relationships/notesSlide" Target="/ppt/notesSlides/notesSlide1.xml" Id="Rf41609bee97b45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a520ea7f94043" /><Relationship Type="http://schemas.openxmlformats.org/officeDocument/2006/relationships/notesSlide" Target="/ppt/notesSlides/notesSlide2.xml" Id="Rf65239615d4048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9542b0429450d" /><Relationship Type="http://schemas.openxmlformats.org/officeDocument/2006/relationships/notesSlide" Target="/ppt/notesSlides/notesSlide3.xml" Id="Rd2d4ec601a0b46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1a6ea9c534df2" /><Relationship Type="http://schemas.openxmlformats.org/officeDocument/2006/relationships/notesSlide" Target="/ppt/notesSlides/notesSlide4.xml" Id="R3d046ae51c274a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730a71b184d39" /><Relationship Type="http://schemas.openxmlformats.org/officeDocument/2006/relationships/notesSlide" Target="/ppt/notesSlides/notesSlide5.xml" Id="R04eaf782c5d04d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8f391dad24306" /><Relationship Type="http://schemas.openxmlformats.org/officeDocument/2006/relationships/notesSlide" Target="/ppt/notesSlides/notesSlide6.xml" Id="Rbd2608c6d7c441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3689200244bcf" /><Relationship Type="http://schemas.openxmlformats.org/officeDocument/2006/relationships/notesSlide" Target="/ppt/notesSlides/notesSlide7.xml" Id="R287f26f0a1074c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df5aebc514c8a" /><Relationship Type="http://schemas.openxmlformats.org/officeDocument/2006/relationships/notesSlide" Target="/ppt/notesSlides/notesSlide8.xml" Id="R9415ca355cbb4d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C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1DEF4-C1A8-4019-90D6-26DA2A0E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19200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42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6839F-C33E-451D-9F66-3F9B6532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85975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7C8D8"/>
                </a:solidFill>
                <a:latin typeface="Helvetica"/>
                <a:ea typeface="Helvetica"/>
                <a:cs typeface="Helvetica"/>
              </a:defRPr>
            </a:pPr>
            <a:r>
              <a:rPr sz="1875" b="0">
                <a:solidFill>
                  <a:srgbClr val="B7C8D8"/>
                </a:solidFill>
                <a:latin typeface="Helvetica"/>
                <a:ea typeface="Helvetica"/>
                <a:cs typeface="Helvetica"/>
              </a:rPr>
              <a:t>Legal and production readiness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BB518-ECCF-4D40-830D-D3E11DED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C7B7"/>
          </a:solidFill>
          <a:ln xmlns:a="http://schemas.openxmlformats.org/drawingml/2006/main" w="0">
            <a:solidFill>
              <a:srgbClr val="53C7B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BA6C1-8429-4D07-A31A-9C17F9DF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D7E0ED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D7E0ED"/>
                </a:solidFill>
                <a:latin typeface="Helvetica"/>
                <a:ea typeface="Helvetica"/>
                <a:cs typeface="Helvetica"/>
              </a:rPr>
              <a:t>Financial exception investigation and risk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4948E-E1E5-429A-8BD4-89E8C657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rPr>
              <a:t>Prepared for legal, privacy, security and business review</a:t>
            </a:r>
          </a:p>
          <a:p xmlns:a="http://schemas.openxmlformats.org/drawingml/2006/main">
            <a:pPr>
              <a:buNone/>
              <a:def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rPr>
              <a:t>26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947700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0BB6A-7AA4-4C01-ADFC-F5E86118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AB2E3-E980-4546-9264-31E90C21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5CABA-F709-41CF-B286-95E3A51A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Application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7FA98-040A-4A72-AEB4-30A18516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What Cause AI does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D947F-5AB5-47A7-8DD7-037B8DF8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1EC8E-D1DD-48D0-807C-F362E862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DED3F-1ECA-4F61-88AE-1CBF33E6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Detects payment-operation exceptions from normalized financial records and preserves evidence references.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E5E2E-2AFD-4D2C-9D15-9AA6E7A1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4658D-C11E-4780-8C4A-DF48B43E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Creates tenant-scoped cases, investigation tickets and append-only audit events.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E0378-E21A-448C-8DA6-AB02B8E7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19234-2686-40D5-9D64-5796B111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Uses deterministic rules and explainable risk assessment. Human reviewers retain final authority.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CD8BD-9839-44AA-8BD6-22E68722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65D27-3CBD-4A15-A4B5-3BC47A49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Runs as an approved synthetic-data demo on local loopback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0516047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8E298-60C1-4EE6-9C8C-E93A2CBD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48349-84D1-435A-88A9-7C94A337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58910-2983-4EE1-A19D-4FCA9EF8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Financial data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DA4E4-D9A4-414F-B812-1F8CA014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Controls added around imports and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ECAA4-1162-4421-8E9A-1CA92309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4EBE1-D7D7-4CD7-ADED-581E6A5E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7D44D-7963-44E7-AC49-08342393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Immutable financial-event records include tenant scope, source identity, SHA-256 content hash and ingestion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0768E-B175-40E5-892E-F31AB49C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76CE2-D7A7-4094-8D4C-6344BCAC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Changed replay of a source record returns a conflict instead of silently replacing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0A754-8510-4D9D-B422-9E39A880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05D1F-0815-46A1-8060-C2603286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Razorpay connector requires an explicit live-mode flag and tenant match before any read-only import.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E8405-909C-4E23-8DA7-8134859E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ACB5B-479C-4D6E-95C0-278C2059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Normalized import data excludes raw email and card details from the connector output.</a:t>
            </a:r>
          </a:p>
        </p:txBody>
      </p:sp>
    </p:spTree>
    <p:extLst>
      <p:ext uri="{BB962C8B-B14F-4D97-AF65-F5344CB8AC3E}">
        <p14:creationId xmlns:p14="http://schemas.microsoft.com/office/powerpoint/2010/main" val="17897434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5F276-8372-4B59-BE21-DED5CEE5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D2F22-868C-4A7A-9C07-2507A0DF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B0789-4694-4862-BFEB-10509DD1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Security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46E70-A972-4C3C-8C2B-051B5738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Backend behavior verified by automated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49117-784E-4ABA-BEA0-274AEA0F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A3999-8B15-409B-A52B-44D379E4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70A93-96B5-4105-B35A-5A559CDA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Tenant isolation, role checks, same-origin writes and immutable audit records protect core workflows.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78962-E6D0-4871-9776-ECDD5FBD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744C6-A0FE-40A0-BFE2-91937C4E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HTTP layer applies CSP, no-store responses, MIME-sniffing protection and clickjacking protection.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ABBCC-BEE3-418F-9B1C-8B37E7C9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6F0B9-A47A-41F1-8242-6E65DE2B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Request-size limits, malformed Content-Length handling, session expiry and login throttling reduce common abuse paths.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261AE-A2E7-41C1-A9C8-B0B0E01D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A1859-2384-4ACD-B092-D1EDBF4E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Health checks verify database access and report schema version 4.</a:t>
            </a:r>
          </a:p>
        </p:txBody>
      </p:sp>
    </p:spTree>
    <p:extLst>
      <p:ext uri="{BB962C8B-B14F-4D97-AF65-F5344CB8AC3E}">
        <p14:creationId xmlns:p14="http://schemas.microsoft.com/office/powerpoint/2010/main" val="6240615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EDA0E-EBAA-4391-9FE4-2F2487C9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B340E-C3E6-49F4-A91B-3956C6AB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9584A-6E1B-4CD8-B8BE-90EE7C3A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Legal and privacy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BB621-52D0-4F43-BFFC-1EB983EE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Templates require legal completion before publication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86D58-CEA4-4B0E-A3B7-D7CCE663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DE5F4-DC9A-44E7-9140-31417408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394AC-637C-4C18-B0A8-9AD669ED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Terms cover authorised access, acceptable use, confidentiality, customer responsibility and service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88176-92BF-4992-9F16-7124916E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D3878-D147-4238-84AC-0D142AE3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Privacy notice covers processed data, purpose, sharing, retention, data rights and incident handling.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5FB0C-D8F2-4D40-B195-58478CB9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9569E-5DA9-4F25-BF2E-A70D829C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India review includes DPDP, RBI payment-data restrictions, localisation requirements and applicable NPCI or UPI obligations.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0D3D4-8ADD-4B6F-86C8-A35656B9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42F51-EC1F-4B19-8235-9D6EAB15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template contains placeholders for the legal entity, privacy contact, processors, retention schedule and jurisdiction terms.</a:t>
            </a:r>
          </a:p>
        </p:txBody>
      </p:sp>
    </p:spTree>
    <p:extLst>
      <p:ext uri="{BB962C8B-B14F-4D97-AF65-F5344CB8AC3E}">
        <p14:creationId xmlns:p14="http://schemas.microsoft.com/office/powerpoint/2010/main" val="17931262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2D4DA-2D9C-4C3F-A8AE-6086B575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9420C-45DF-43FF-85A4-B340EA10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38E28-5724-4847-8607-2850C73D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Production readiness score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7AD0F-B42B-410E-83AB-353AA599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Evidence-based assessment as of 27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1AF5B-AACC-4EAD-9BAC-CDD7BAFF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6FA12-8EE7-4EA7-B4A0-89F91CA9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247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950" b="1">
                <a:solidFill>
                  <a:srgbClr val="A83C4A"/>
                </a:solidFill>
                <a:latin typeface="Helvetica"/>
                <a:ea typeface="Helvetica"/>
                <a:cs typeface="Helvetica"/>
              </a:defRPr>
            </a:pPr>
            <a:r>
              <a:rPr sz="7950" b="1">
                <a:solidFill>
                  <a:srgbClr val="A83C4A"/>
                </a:solidFill>
                <a:latin typeface="Helvetica"/>
                <a:ea typeface="Helvetica"/>
                <a:cs typeface="Helvetica"/>
              </a:rPr>
              <a:t>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B7257-8496-448F-8BE0-9D764518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out of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0798C-FDC5-48CF-9BD3-B0C15640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666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1"/>
          </a:solidFill>
          <a:ln xmlns:a="http://schemas.openxmlformats.org/drawingml/2006/main" w="0">
            <a:solidFill>
              <a:srgbClr val="E6EBF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A594C-C819-4B35-8010-A7D18078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score credits implemented controls, governance gates and 72 passing automated checks.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0FAD5-533C-493F-91D8-1445BA5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623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82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Cross-document implementation is 55 out of 100 against the PDR and project description.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67655-77F1-436E-848A-0220B1AF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A83C4A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A83C4A"/>
                </a:solidFill>
                <a:latin typeface="Helvetica"/>
                <a:ea typeface="Helvetica"/>
                <a:cs typeface="Helvetica"/>
              </a:rPr>
              <a:t>Production launch remains blocked until company controls are evidenced.</a:t>
            </a:r>
          </a:p>
        </p:txBody>
      </p:sp>
    </p:spTree>
    <p:extLst>
      <p:ext uri="{BB962C8B-B14F-4D97-AF65-F5344CB8AC3E}">
        <p14:creationId xmlns:p14="http://schemas.microsoft.com/office/powerpoint/2010/main" val="1794550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4720B-7CC7-474C-81E5-AE26EDB4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B66A7-6604-4EDC-8836-43AAFAA4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14A85-DBDB-4230-AA8E-4199082E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Release blockers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2DDA9-48E5-4014-B07E-FBC5EEF4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Controls the workspace cannot truthfully claim as complete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88337-C4E4-4724-A936-42B62FAC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CA9CA-DFDF-4DE5-BC37-40A13F2C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B590D-44CF-4959-BD9F-A7B3A76B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Managed database, encrypted and tested backups, disaster recovery, TLS ingress, WAF, secrets manager and central observability.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23869-1FA9-44CC-B009-3BA83029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88D1C-1854-4BD6-9DB9-DF52D505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Company identity provider, MFA, SSO, lifecycle provisioning and privileged-access administration.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7E6C2-98FC-4BA8-AAD4-3550F7E7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354B6-5BA2-4935-811C-8FFFCBAF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04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Authorized Razorpay production credentials, webhook verification, settlement and refund sources, plus reconciliation approval.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A3600-3A83-4378-9B46-04F335AB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EB159-E33B-4553-84C9-D8F8216A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Independent VAPT, penetration testing, load testing, incident exercise, legal approval and signed customer agreements.</a:t>
            </a:r>
          </a:p>
        </p:txBody>
      </p:sp>
    </p:spTree>
    <p:extLst>
      <p:ext uri="{BB962C8B-B14F-4D97-AF65-F5344CB8AC3E}">
        <p14:creationId xmlns:p14="http://schemas.microsoft.com/office/powerpoint/2010/main" val="21216255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5D0B8-B2FC-4AA4-ACC6-84323174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8D50E-D14F-4F9E-83DC-99CF9722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2E794-5704-47FF-96DC-5F199673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Submission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0887F-9C25-4EC9-B164-1CD26CCF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Recommended next actions for legal and production owners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29C73-1BB6-43B7-A11A-577009FD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5A0F7-4AB5-4B1C-924C-80C69418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48D95-4D70-44D1-8E9A-69B4DB8F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Legal team completes the company-specific placeholders and approves the Terms, Privacy Notice and DPA.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0A852-AFAC-4C7F-8C73-ED72369A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5FCC4-85B9-4AD0-AAB6-C3B6B320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Security and platform teams implement the required production environment and produce operational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301B7-A0DC-44AC-AFB1-09CE3D3C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8878B-9E0A-4887-BA9E-8DAE7568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Payments owners approve real Razorpay integration scope, credentials, webhook controls and reconciliation rules.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58B0B-917F-46DC-B44D-49F7BB92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77A76-1F12-48AA-8D30-229EDAAF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Release authority reassesses the score after independent testing and documented control acceptance.</a:t>
            </a:r>
          </a:p>
        </p:txBody>
      </p:sp>
    </p:spTree>
    <p:extLst>
      <p:ext uri="{BB962C8B-B14F-4D97-AF65-F5344CB8AC3E}">
        <p14:creationId xmlns:p14="http://schemas.microsoft.com/office/powerpoint/2010/main" val="994482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2026-09-26T19:12:19.7900000Z</dcterms:created>
  <dcterms:modified xsi:type="dcterms:W3CDTF">2026-09-26T19:12:19.7910000Z</dcterms:modified>
</coreProperties>
</file>
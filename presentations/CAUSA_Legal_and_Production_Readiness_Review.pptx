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3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Internal review deck. Current implementation evidence and release blockers.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MeitY DPDP Act 2023 and DPDP Rules 2025; RBI card-on-file storage restriction RBI/2022-23/77; RBI payment-system storage FAQ.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>
            <a:spLocks noGrp="1"/>
          </p:cNvSpPr>
          <p:nvPr/>
        </p:nvSpPr>
        <p:spPr>
          <a:xfrm>
            <a:off x="809625" y="1219200"/>
            <a:ext cx="66675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833"/>
          </a:bodyPr>
          <a:lstStyle/>
          <a:p>
            <a:pPr>
              <a:defRPr sz="42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2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Cause AI</a:t>
            </a:r>
            <a:endParaRPr sz="4200" b="1">
              <a:solidFill>
                <a:srgbClr val="FFFFFF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838200" y="2085975"/>
            <a:ext cx="7334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667"/>
          </a:bodyPr>
          <a:lstStyle/>
          <a:p>
            <a:pPr>
              <a:defRPr sz="1875" b="0">
                <a:solidFill>
                  <a:srgbClr val="B7C8D8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B7C8D8"/>
                </a:solidFill>
                <a:latin typeface="Helvetica"/>
                <a:ea typeface="Helvetica"/>
                <a:cs typeface="Helvetica"/>
              </a:rPr>
              <a:t>Legal and production readiness review</a:t>
            </a:r>
            <a:endParaRPr sz="1875" b="0">
              <a:solidFill>
                <a:srgbClr val="B7C8D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838200" y="2724150"/>
            <a:ext cx="2000250" cy="38100"/>
          </a:xfrm>
          <a:prstGeom prst="rect">
            <a:avLst/>
          </a:prstGeom>
          <a:solidFill>
            <a:srgbClr val="53C7B7"/>
          </a:solidFill>
          <a:ln w="0">
            <a:solidFill>
              <a:srgbClr val="53C7B7"/>
            </a:solidFill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838200" y="3067050"/>
            <a:ext cx="7239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D7E0E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D7E0ED"/>
                </a:solidFill>
                <a:latin typeface="Helvetica"/>
                <a:ea typeface="Helvetica"/>
                <a:cs typeface="Helvetica"/>
              </a:rPr>
              <a:t>Financial exception investigation and risk management</a:t>
            </a:r>
            <a:endParaRPr sz="1500" b="0">
              <a:solidFill>
                <a:srgbClr val="D7E0ED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838200" y="5334000"/>
            <a:ext cx="5715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rPr>
              <a:t>Prepared for legal, privacy, security and business review</a:t>
            </a:r>
            <a:endParaRPr sz="1200" b="0">
              <a:solidFill>
                <a:srgbClr val="9FB0C3"/>
              </a:solidFill>
              <a:latin typeface="Helvetica"/>
              <a:ea typeface="Helvetica"/>
              <a:cs typeface="Helvetica"/>
            </a:endParaRPr>
          </a:p>
          <a:p>
            <a:pPr>
              <a:def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rPr>
              <a:t>26 September 2026</a:t>
            </a:r>
            <a:endParaRPr sz="1200" b="0">
              <a:solidFill>
                <a:srgbClr val="9FB0C3"/>
              </a:solidFill>
              <a:latin typeface="Helvetica"/>
              <a:ea typeface="Helvetica"/>
              <a:cs typeface="Helvet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685800" y="33337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718"/>
          </a:bodyPr>
          <a:lstStyle/>
          <a:p>
            <a:pPr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  <a:endParaRPr sz="975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333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02</a:t>
            </a:r>
            <a:endParaRPr sz="900" b="1">
              <a:solidFill>
                <a:srgbClr val="66758B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90575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Application scope</a:t>
            </a:r>
            <a:endParaRPr sz="2325" b="1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362075"/>
            <a:ext cx="10382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What Cause AI does today</a:t>
            </a:r>
            <a:endParaRPr sz="1125" b="0">
              <a:solidFill>
                <a:srgbClr val="66758B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1866900"/>
            <a:ext cx="10820400" cy="38100"/>
          </a:xfrm>
          <a:prstGeom prst="rect">
            <a:avLst/>
          </a:prstGeom>
          <a:solidFill>
            <a:srgbClr val="D9E3EA"/>
          </a:solidFill>
          <a:ln w="0">
            <a:solidFill>
              <a:srgbClr val="D9E3EA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14400" y="223837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81100" y="223837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Detects payment-operation exceptions from normalized financial records and preserves evidence references.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14400" y="294322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181100" y="294322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Creates tenant-scoped cases, investigation tickets and append-only audit events.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14400" y="364807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81100" y="364807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Uses deterministic rules and explainable risk assessment. Human reviewers retain final authority.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14400" y="435292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181100" y="435292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Runs as an approved synthetic-data demo on local loopback infrastructure.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685800" y="33337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718"/>
          </a:bodyPr>
          <a:lstStyle/>
          <a:p>
            <a:pPr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  <a:endParaRPr sz="975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333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03</a:t>
            </a:r>
            <a:endParaRPr sz="900" b="1">
              <a:solidFill>
                <a:srgbClr val="66758B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90575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Financial data controls</a:t>
            </a:r>
            <a:endParaRPr sz="2325" b="1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362075"/>
            <a:ext cx="10382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Controls added around imports and evidence</a:t>
            </a:r>
            <a:endParaRPr sz="1125" b="0">
              <a:solidFill>
                <a:srgbClr val="66758B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1866900"/>
            <a:ext cx="10820400" cy="38100"/>
          </a:xfrm>
          <a:prstGeom prst="rect">
            <a:avLst/>
          </a:prstGeom>
          <a:solidFill>
            <a:srgbClr val="D9E3EA"/>
          </a:solidFill>
          <a:ln w="0">
            <a:solidFill>
              <a:srgbClr val="D9E3EA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14400" y="223837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81100" y="223837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Immutable financial-event records include tenant scope, source identity, SHA-256 content hash and ingestion time.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14400" y="294322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181100" y="294322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Changed replay of a source record returns a conflict instead of silently replacing evidence.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14400" y="364807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81100" y="364807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Razorpay connector requires an explicit live-mode flag and tenant match before any read-only import.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14400" y="435292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181100" y="435292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Normalized import data excludes raw email and card details from the connector output.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685800" y="33337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718"/>
          </a:bodyPr>
          <a:lstStyle/>
          <a:p>
            <a:pPr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  <a:endParaRPr sz="975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333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04</a:t>
            </a:r>
            <a:endParaRPr sz="900" b="1">
              <a:solidFill>
                <a:srgbClr val="66758B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90575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Security controls</a:t>
            </a:r>
            <a:endParaRPr sz="2325" b="1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362075"/>
            <a:ext cx="10382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Backend behavior verified by automated tests</a:t>
            </a:r>
            <a:endParaRPr sz="1125" b="0">
              <a:solidFill>
                <a:srgbClr val="66758B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1866900"/>
            <a:ext cx="10820400" cy="38100"/>
          </a:xfrm>
          <a:prstGeom prst="rect">
            <a:avLst/>
          </a:prstGeom>
          <a:solidFill>
            <a:srgbClr val="D9E3EA"/>
          </a:solidFill>
          <a:ln w="0">
            <a:solidFill>
              <a:srgbClr val="D9E3EA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14400" y="223837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81100" y="223837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Tenant isolation, role checks, same-origin writes and immutable audit records protect core workflows.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14400" y="294322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181100" y="294322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HTTP layer applies CSP, no-store responses, MIME-sniffing protection and clickjacking protection.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14400" y="364807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81100" y="364807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Request-size limits, malformed Content-Length handling, session expiry and login throttling reduce common abuse paths.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14400" y="435292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181100" y="435292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Health checks verify database access and report the active schema version.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685800" y="33337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718"/>
          </a:bodyPr>
          <a:lstStyle/>
          <a:p>
            <a:pPr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  <a:endParaRPr sz="975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333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05</a:t>
            </a:r>
            <a:endParaRPr sz="900" b="1">
              <a:solidFill>
                <a:srgbClr val="66758B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90575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Legal and privacy package</a:t>
            </a:r>
            <a:endParaRPr sz="2325" b="1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362075"/>
            <a:ext cx="10382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Templates require legal completion before publication</a:t>
            </a:r>
            <a:endParaRPr sz="1125" b="0">
              <a:solidFill>
                <a:srgbClr val="66758B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1866900"/>
            <a:ext cx="10820400" cy="38100"/>
          </a:xfrm>
          <a:prstGeom prst="rect">
            <a:avLst/>
          </a:prstGeom>
          <a:solidFill>
            <a:srgbClr val="D9E3EA"/>
          </a:solidFill>
          <a:ln w="0">
            <a:solidFill>
              <a:srgbClr val="D9E3EA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14400" y="223837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81100" y="223837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Terms cover authorised access, acceptable use, confidentiality, customer responsibility and service limits.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14400" y="294322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181100" y="294322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Privacy notice covers processed data, purpose, sharing, retention, data rights and incident handling.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14400" y="364807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81100" y="364807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India review includes DPDP, RBI payment-data restrictions, localisation requirements and applicable NPCI or UPI obligations.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14400" y="435292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181100" y="435292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template contains placeholders for the legal entity, privacy contact, processors, retention schedule and jurisdiction terms.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685800" y="33337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718"/>
          </a:bodyPr>
          <a:lstStyle/>
          <a:p>
            <a:pPr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  <a:endParaRPr sz="975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333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07</a:t>
            </a:r>
            <a:endParaRPr sz="900" b="1">
              <a:solidFill>
                <a:srgbClr val="66758B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90575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Release blockers</a:t>
            </a:r>
            <a:endParaRPr sz="2325" b="1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362075"/>
            <a:ext cx="10382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Controls the workspace cannot truthfully claim as complete</a:t>
            </a:r>
            <a:endParaRPr sz="1125" b="0">
              <a:solidFill>
                <a:srgbClr val="66758B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1866900"/>
            <a:ext cx="10820400" cy="38100"/>
          </a:xfrm>
          <a:prstGeom prst="rect">
            <a:avLst/>
          </a:prstGeom>
          <a:solidFill>
            <a:srgbClr val="D9E3EA"/>
          </a:solidFill>
          <a:ln w="0">
            <a:solidFill>
              <a:srgbClr val="D9E3EA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14400" y="2190750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2421"/>
          </a:bodyPr>
          <a:lstStyle/>
          <a:p>
            <a:pPr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275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81100" y="219075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Managed database, encrypted and tested backups, disaster recovery, TLS ingress, WAF, secrets manager and central observability.</a:t>
            </a:r>
            <a:endParaRPr sz="1275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14400" y="2895600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2421"/>
          </a:bodyPr>
          <a:lstStyle/>
          <a:p>
            <a:pPr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275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181100" y="28956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Company identity provider, MFA, SSO, lifecycle provisioning and privileged-access administration.</a:t>
            </a:r>
            <a:endParaRPr sz="1275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14400" y="3600450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2421"/>
          </a:bodyPr>
          <a:lstStyle/>
          <a:p>
            <a:pPr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275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81100" y="360045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Authorized Razorpay production credentials, webhook verification, settlement and refund sources, plus reconciliation approval.</a:t>
            </a:r>
            <a:endParaRPr sz="1275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14400" y="4305300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2421"/>
          </a:bodyPr>
          <a:lstStyle/>
          <a:p>
            <a:pPr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275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181100" y="430530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Independent VAPT, penetration testing, load testing, incident exercise, legal approval and signed customer agreements.</a:t>
            </a:r>
            <a:endParaRPr sz="1275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Rectangle 13"/>
          <p:cNvSpPr>
            <a:spLocks noGrp="1"/>
          </p:cNvSpPr>
          <p:nvPr/>
        </p:nvSpPr>
        <p:spPr>
          <a:xfrm>
            <a:off x="685800" y="333375"/>
            <a:ext cx="1714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718"/>
          </a:bodyPr>
          <a:lstStyle/>
          <a:p>
            <a:pPr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  <a:endParaRPr sz="975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11049000" y="333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08</a:t>
            </a:r>
            <a:endParaRPr sz="900" b="1">
              <a:solidFill>
                <a:srgbClr val="66758B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790575"/>
            <a:ext cx="10287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Submission decision</a:t>
            </a:r>
            <a:endParaRPr sz="2325" b="1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362075"/>
            <a:ext cx="10382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Recommended next actions for legal and production owners</a:t>
            </a:r>
            <a:endParaRPr sz="1125" b="0">
              <a:solidFill>
                <a:srgbClr val="66758B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1866900"/>
            <a:ext cx="10820400" cy="38100"/>
          </a:xfrm>
          <a:prstGeom prst="rect">
            <a:avLst/>
          </a:prstGeom>
          <a:solidFill>
            <a:srgbClr val="D9E3EA"/>
          </a:solidFill>
          <a:ln w="0">
            <a:solidFill>
              <a:srgbClr val="D9E3EA"/>
            </a:solidFill>
          </a:ln>
        </p:spPr>
      </p:sp>
      <p:sp>
        <p:nvSpPr>
          <p:cNvPr id="6" name="Rectangle 5"/>
          <p:cNvSpPr>
            <a:spLocks noGrp="1"/>
          </p:cNvSpPr>
          <p:nvPr/>
        </p:nvSpPr>
        <p:spPr>
          <a:xfrm>
            <a:off x="914400" y="223837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1181100" y="223837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Legal team completes the company-specific placeholders and approves the Terms, Privacy Notice and DPA.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914400" y="294322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1181100" y="294322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Security and platform teams implement the required production environment and produce operational evidence.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914400" y="364807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181100" y="364807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Payments owners approve real Razorpay integration scope, credentials, webhook controls and reconciliation rules.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14400" y="4352925"/>
            <a:ext cx="2095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0619"/>
          </a:bodyPr>
          <a:lstStyle/>
          <a:p>
            <a:pPr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  <a:endParaRPr sz="1350" b="1">
              <a:solidFill>
                <a:srgbClr val="147D78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1181100" y="435292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Release authority reassesses the score after independent testing and documented control acceptance.</a:t>
            </a:r>
            <a:endParaRPr sz="1350" b="0">
              <a:solidFill>
                <a:srgbClr val="17253C"/>
              </a:solidFill>
              <a:latin typeface="Helvetica"/>
              <a:ea typeface="Helvetica"/>
              <a:cs typeface="Helveti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3141</Words>
  <Application>WPS Presentation</Application>
  <PresentationFormat>Converted Presentation</PresentationFormat>
  <Paragraphs>153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Helvetica</vt:lpstr>
      <vt:lpstr>Microsoft YaHei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POTHEESH VIGNESH K UEC22106</cp:lastModifiedBy>
  <cp:revision>1</cp:revision>
  <dcterms:created xsi:type="dcterms:W3CDTF">2026-09-26T20:29:47Z</dcterms:created>
  <dcterms:modified xsi:type="dcterms:W3CDTF">2026-09-26T20:29:47Z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3E0DED59C2DE44668CF69DE2EA7C8095_12</vt:lpwstr>
  </property>
</Properties>
</file>
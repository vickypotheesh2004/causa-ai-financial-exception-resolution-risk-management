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4e0a3795b4722" /><Relationship Type="http://schemas.openxmlformats.org/officeDocument/2006/relationships/extended-properties" Target="/docProps/app.xml" Id="Rdac5f28467824770" /><Relationship Type="http://schemas.openxmlformats.org/officeDocument/2006/relationships/officeDocument" Target="/ppt/presentation.xml" Id="Rb9175084ee1d4b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36274ea24348d0"/>
  </p:sldMasterIdLst>
  <p:notesMasterIdLst>
    <p:notesMasterId xmlns:r="http://schemas.openxmlformats.org/officeDocument/2006/relationships" r:id="R6f7279abb13e4e93"/>
  </p:notesMasterIdLst>
  <p:sldIdLst>
    <p:sldId xmlns:r="http://schemas.openxmlformats.org/officeDocument/2006/relationships" id="256" r:id="R73ca07cbd3f14277"/>
    <p:sldId xmlns:r="http://schemas.openxmlformats.org/officeDocument/2006/relationships" id="257" r:id="R897ae85c2a754a29"/>
    <p:sldId xmlns:r="http://schemas.openxmlformats.org/officeDocument/2006/relationships" id="258" r:id="R4534982cc3d948dd"/>
    <p:sldId xmlns:r="http://schemas.openxmlformats.org/officeDocument/2006/relationships" id="259" r:id="Ref17b5baf4774a88"/>
    <p:sldId xmlns:r="http://schemas.openxmlformats.org/officeDocument/2006/relationships" id="260" r:id="R3b99275ac0974eac"/>
    <p:sldId xmlns:r="http://schemas.openxmlformats.org/officeDocument/2006/relationships" id="261" r:id="R42a838839a6a408b"/>
    <p:sldId xmlns:r="http://schemas.openxmlformats.org/officeDocument/2006/relationships" id="262" r:id="Rd027fc6a025f4d50"/>
    <p:sldId xmlns:r="http://schemas.openxmlformats.org/officeDocument/2006/relationships" id="263" r:id="R578c536ea61743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0cacdf261482b" /><Relationship Type="http://schemas.openxmlformats.org/officeDocument/2006/relationships/slideMaster" Target="/ppt/slideMasters/slideMaster1.xml" Id="Rba36274ea24348d0" /><Relationship Type="http://schemas.openxmlformats.org/officeDocument/2006/relationships/notesMaster" Target="/ppt/notesMasters/notesMaster1.xml" Id="R6f7279abb13e4e93" /><Relationship Type="http://schemas.openxmlformats.org/officeDocument/2006/relationships/presProps" Target="/ppt/presProps.xml" Id="Rb30ed39893014579" /><Relationship Type="http://schemas.openxmlformats.org/officeDocument/2006/relationships/tableStyles" Target="/ppt/tableStyles.xml" Id="Rbde8fd3755df4cef" /><Relationship Type="http://schemas.openxmlformats.org/officeDocument/2006/relationships/slide" Target="/ppt/slides/slide1.xml" Id="R73ca07cbd3f14277" /><Relationship Type="http://schemas.openxmlformats.org/officeDocument/2006/relationships/slide" Target="/ppt/slides/slide2.xml" Id="R897ae85c2a754a29" /><Relationship Type="http://schemas.openxmlformats.org/officeDocument/2006/relationships/slide" Target="/ppt/slides/slide3.xml" Id="R4534982cc3d948dd" /><Relationship Type="http://schemas.openxmlformats.org/officeDocument/2006/relationships/slide" Target="/ppt/slides/slide4.xml" Id="Ref17b5baf4774a88" /><Relationship Type="http://schemas.openxmlformats.org/officeDocument/2006/relationships/slide" Target="/ppt/slides/slide5.xml" Id="R3b99275ac0974eac" /><Relationship Type="http://schemas.openxmlformats.org/officeDocument/2006/relationships/slide" Target="/ppt/slides/slide6.xml" Id="R42a838839a6a408b" /><Relationship Type="http://schemas.openxmlformats.org/officeDocument/2006/relationships/slide" Target="/ppt/slides/slide7.xml" Id="Rd027fc6a025f4d50" /><Relationship Type="http://schemas.openxmlformats.org/officeDocument/2006/relationships/slide" Target="/ppt/slides/slide8.xml" Id="R578c536ea617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65139454de49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55dcb4fcb34360" /><Relationship Type="http://schemas.openxmlformats.org/officeDocument/2006/relationships/notesMaster" Target="/ppt/notesMasters/notesMaster1.xml" Id="R6ee46a8bd3b64d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bdd18b6fb943d0" /><Relationship Type="http://schemas.openxmlformats.org/officeDocument/2006/relationships/notesMaster" Target="/ppt/notesMasters/notesMaster1.xml" Id="R7cc750cc8b2942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9294994504cdf" /><Relationship Type="http://schemas.openxmlformats.org/officeDocument/2006/relationships/notesMaster" Target="/ppt/notesMasters/notesMaster1.xml" Id="Ra41a7aeb91e94b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07f705ed554a76" /><Relationship Type="http://schemas.openxmlformats.org/officeDocument/2006/relationships/notesMaster" Target="/ppt/notesMasters/notesMaster1.xml" Id="R5cd6baa01ec64e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2ab68bde494a91" /><Relationship Type="http://schemas.openxmlformats.org/officeDocument/2006/relationships/notesMaster" Target="/ppt/notesMasters/notesMaster1.xml" Id="R1ab2f794f9ff4a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e9b9b0330f4ee1" /><Relationship Type="http://schemas.openxmlformats.org/officeDocument/2006/relationships/notesMaster" Target="/ppt/notesMasters/notesMaster1.xml" Id="Rd2d0991495ec46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993efa170842a3" /><Relationship Type="http://schemas.openxmlformats.org/officeDocument/2006/relationships/notesMaster" Target="/ppt/notesMasters/notesMaster1.xml" Id="R184c6461bb3b40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d7d6854fa84f60" /><Relationship Type="http://schemas.openxmlformats.org/officeDocument/2006/relationships/notesMaster" Target="/ppt/notesMasters/notesMaster1.xml" Id="R98246ab8b81c4e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review deck. Current implementation evidence and release blockers.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MeitY DPDP Act 2023 and DPDP Rules 2025; RBI card-on-file storage restriction RBI/2022-23/77; RBI payment-system storage FAQ.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8cdce99c5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ccb0950f464a04" /><Relationship Type="http://schemas.openxmlformats.org/officeDocument/2006/relationships/slideLayout" Target="/ppt/slideLayouts/slideLayout1.xml" Id="R04d151c6d5f8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151c6d5f8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6868674fa4030" /><Relationship Type="http://schemas.openxmlformats.org/officeDocument/2006/relationships/notesSlide" Target="/ppt/notesSlides/notesSlide1.xml" Id="R6a6fb0cb3d724b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0089d90744625" /><Relationship Type="http://schemas.openxmlformats.org/officeDocument/2006/relationships/notesSlide" Target="/ppt/notesSlides/notesSlide2.xml" Id="R599df48219f04c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61c21d3df4386" /><Relationship Type="http://schemas.openxmlformats.org/officeDocument/2006/relationships/notesSlide" Target="/ppt/notesSlides/notesSlide3.xml" Id="R4521fbc22dc643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85868d0104a78" /><Relationship Type="http://schemas.openxmlformats.org/officeDocument/2006/relationships/notesSlide" Target="/ppt/notesSlides/notesSlide4.xml" Id="Rb021b304ed464e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1aac8c06f4162" /><Relationship Type="http://schemas.openxmlformats.org/officeDocument/2006/relationships/notesSlide" Target="/ppt/notesSlides/notesSlide5.xml" Id="R366fe5caef7a43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993a8f4f44bd8" /><Relationship Type="http://schemas.openxmlformats.org/officeDocument/2006/relationships/notesSlide" Target="/ppt/notesSlides/notesSlide6.xml" Id="R9f08bd9b02af41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4e134787443d6" /><Relationship Type="http://schemas.openxmlformats.org/officeDocument/2006/relationships/notesSlide" Target="/ppt/notesSlides/notesSlide7.xml" Id="R1829617a7f93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37b2c6aea4233" /><Relationship Type="http://schemas.openxmlformats.org/officeDocument/2006/relationships/notesSlide" Target="/ppt/notesSlides/notesSlide8.xml" Id="Re93748c7bd6f42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DEF4-C1A8-4019-90D6-26DA2A0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192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6839F-C33E-451D-9F66-3F9B653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rPr>
              <a:t>Legal and production readiness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BB518-ECCF-4D40-830D-D3E11DE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7B7"/>
          </a:solidFill>
          <a:ln xmlns:a="http://schemas.openxmlformats.org/drawingml/2006/main" w="0">
            <a:solidFill>
              <a:srgbClr val="53C7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BA6C1-8429-4D07-A31A-9C17F9D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rPr>
              <a:t>Financial exception investigation and risk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4948E-E1E5-429A-8BD4-89E8C65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Prepared for legal, privacy, security and business review</a:t>
            </a:r>
          </a:p>
          <a:p xmlns:a="http://schemas.openxmlformats.org/drawingml/2006/main">
            <a:pPr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26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4770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BB6A-7AA4-4C01-ADFC-F5E8611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B2E3-E980-4546-9264-31E90C21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CABA-F709-41CF-B286-95E3A51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Application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FA98-040A-4A72-AEB4-30A1851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What Cause AI does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947F-5AB5-47A7-8DD7-037B8DF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1EC8E-D1DD-48D0-807C-F362E86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ED3F-1ECA-4F61-88AE-1CBF33E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Detects payment-operation exceptions from normalized financial records and preserves evidence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5E2E-2AFD-4D2C-9D15-9AA6E7A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658D-C11E-4780-8C4A-DF48B43E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Creates tenant-scoped cases, investigation tickets and append-only audit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E0378-E21A-448C-8DA6-AB02B8E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19234-2686-40D5-9D64-5796B11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Uses deterministic rules and explainable risk assessment. Human reviewers retain final authority.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D8BD-9839-44AA-8BD6-22E6872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5D27-3CBD-4A15-A4B5-3BC47A4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Runs as an approved synthetic-data demo on local loopback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5160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8E298-60C1-4EE6-9C8C-E93A2CB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8349-84D1-435A-88A9-7C94A33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58910-2983-4EE1-A19D-4FCA9EF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Financial data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DA4E4-D9A4-414F-B812-1F8CA01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added around imports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ECAA4-1162-4421-8E9A-1CA9230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EBE1-D7D7-4CD7-ADED-581E6A5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7D44D-7963-44E7-AC49-0834239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Immutable financial-event records include tenant scope, source identity, SHA-256 content hash and ingestion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0768E-B175-40E5-892E-F31AB49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76CE2-D7A7-4094-8D4C-6344BCA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Changed replay of a source record returns a conflict instead of silently replacing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A754-8510-4D9D-B422-9E39A88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5D1F-0815-46A1-8060-C260328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Razorpay connector requires an explicit live-mode flag and tenant match before any read-only import.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E8405-909C-4E23-8DA7-8134859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ACB5B-479C-4D6E-95C0-278C205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Normalized import data excludes raw email and card details from the connector output.</a:t>
            </a:r>
          </a:p>
        </p:txBody>
      </p:sp>
    </p:spTree>
    <p:extLst>
      <p:ext uri="{BB962C8B-B14F-4D97-AF65-F5344CB8AC3E}">
        <p14:creationId xmlns:p14="http://schemas.microsoft.com/office/powerpoint/2010/main" val="1789743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5F276-8372-4B59-BE21-DED5CEE5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2F22-868C-4A7A-9C07-2507A0D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0789-4694-4862-BFEB-10509DD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6E70-A972-4C3C-8C2B-051B5738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Backend behavior verified by 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9117-784E-4ABA-BEA0-274AEA0F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A3999-8B15-409B-A52B-44D379E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70A93-96B5-4105-B35A-5A559CD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Tenant isolation, role checks, same-origin writes and immutable audit records protect core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78962-E6D0-4871-9776-ECDD5FB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44C6-A0FE-40A0-BFE2-91937C4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HTTP layer applies CSP, no-store responses, MIME-sniffing protection and clickjacking protection.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ABBCC-BEE3-418F-9B1C-8B37E7C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F0B9-A47A-41F1-8242-6E65DE2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Request-size limits, malformed Content-Length handling, session expiry and login throttling reduce common abuse paths.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261AE-A2E7-41C1-A9C8-B0B0E01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A1859-2384-4ACD-B092-D1EDBF4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Health checks verify database access and report the active schema version.</a:t>
            </a:r>
          </a:p>
        </p:txBody>
      </p:sp>
    </p:spTree>
    <p:extLst>
      <p:ext uri="{BB962C8B-B14F-4D97-AF65-F5344CB8AC3E}">
        <p14:creationId xmlns:p14="http://schemas.microsoft.com/office/powerpoint/2010/main" val="624061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EDA0E-EBAA-4391-9FE4-2F2487C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B340E-C3E6-49F4-A91B-3956C6A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584A-6E1B-4CD8-B8BE-90EE7C3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and privacy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BB621-52D0-4F43-BFFC-1EB983E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Templates require legal completion before publication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86D58-CEA4-4B0E-A3B7-D7CCE66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DE5F4-DC9A-44E7-9140-3141740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394AC-637C-4C18-B0A8-9AD669ED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Terms cover authorised access, acceptable use, confidentiality, customer responsibility and service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88176-92BF-4992-9F16-7124916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D3878-D147-4238-84AC-0D142A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Privacy notice covers processed data, purpose, sharing, retention, data rights and incident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5FB0C-D8F2-4D40-B195-58478CB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9569E-5DA9-4F25-BF2E-A70D829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India review includes DPDP, RBI payment-data restrictions, localisation requirements and applicable NPCI or UPI obligations.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0D3D4-8ADD-4B6F-86C8-A35656B9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2F51-EC1F-4B19-8235-9D6EAB1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template contains placeholders for the legal entity, privacy contact, processors, retention schedule and jurisdiction terms.</a:t>
            </a:r>
          </a:p>
        </p:txBody>
      </p:sp>
    </p:spTree>
    <p:extLst>
      <p:ext uri="{BB962C8B-B14F-4D97-AF65-F5344CB8AC3E}">
        <p14:creationId xmlns:p14="http://schemas.microsoft.com/office/powerpoint/2010/main" val="1793126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2D4DA-2D9C-4C3F-A8AE-6086B57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420C-45DF-43FF-85A4-B340EA1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8E28-5724-4847-8607-2850C73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Production readiness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7AD0F-B42B-410E-83AB-353AA59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Evidence-based assessment as of 26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1AF5B-AACC-4EAD-9BAC-CDD7BAF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FA12-8EE7-4EA7-B4A0-89F91CA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7257-8496-448F-8BE0-9D76451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out of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798C-FDC5-48CF-9BD3-B0C1564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594C-C819-4B35-8010-A7D1807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3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score credits implemented application controls and 66 passing automated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0FAD5-533C-493F-91D8-1445BA5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It excludes planned architecture, draft legal terms and controls that do not yet operate in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7655-77F1-436E-848A-0220B1A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Production launch remains blocked by design.</a:t>
            </a:r>
          </a:p>
        </p:txBody>
      </p:sp>
    </p:spTree>
    <p:extLst>
      <p:ext uri="{BB962C8B-B14F-4D97-AF65-F5344CB8AC3E}">
        <p14:creationId xmlns:p14="http://schemas.microsoft.com/office/powerpoint/2010/main" val="1794550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4720B-7CC7-474C-81E5-AE26EDB4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66A7-6604-4EDC-8836-43AAFAA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4A85-DBDB-4230-AA8E-4199082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blockers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DDA9-48E5-4014-B07E-FBC5EEF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the workspace cannot truthfully claim as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8337-C4E4-4724-A936-42B62FA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CA9CA-DFDF-4DE5-BC37-40A13F2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590D-44CF-4959-BD9F-A7B3A76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Managed database, encrypted and tested backups, disaster recovery, TLS ingress, WAF, secrets manager and central observability.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23869-1FA9-44CC-B009-3BA8302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88D1C-1854-4BD6-9DB9-DF52D50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Company identity provider, MFA, SSO, lifecycle provisioning and privileged-access administration.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7E6C2-98FC-4BA8-AAD4-3550F7E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54B6-5BA2-4935-811C-8FFFCBA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Authorized Razorpay production credentials, webhook verification, settlement and refund sources, plus reconciliation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A3600-3A83-4378-9B46-04F335A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B159-E33B-4553-84C9-D8F8216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Independent VAPT, penetration testing, load testing, incident exercise, legal approval and signed customer agreements.</a:t>
            </a:r>
          </a:p>
        </p:txBody>
      </p:sp>
    </p:spTree>
    <p:extLst>
      <p:ext uri="{BB962C8B-B14F-4D97-AF65-F5344CB8AC3E}">
        <p14:creationId xmlns:p14="http://schemas.microsoft.com/office/powerpoint/2010/main" val="212162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D0B8-B2FC-4AA4-ACC6-8432317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8D50E-D14F-4F9E-83DC-99CF972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E794-5704-47FF-96DC-5F19967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Submission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887F-9C25-4EC9-B164-1CD26CC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Recommended next actions for legal and production owners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9C73-1BB6-43B7-A11A-577009F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5A0F7-4AB5-4B1C-924C-80C6941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8D95-4D70-44D1-8E9A-69B4DB8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team completes the company-specific placeholders and approves the Terms, Privacy Notice and DPA.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0A852-AFAC-4C7F-8C73-ED72369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FCC4-85B9-4AD0-AAB6-C3B6B32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and platform teams implement the required production environment and produce operational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301B7-A0DC-44AC-AFB1-09CE3D3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8878B-9E0A-4887-BA9E-8DAE756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Payments owners approve real Razorpay integration scope, credentials, webhook controls and reconciliation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58B0B-917F-46DC-B44D-49F7BB9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77A76-1F12-48AA-8D30-229EDAA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authority reassesses the score after independent testing and documented control acceptance.</a:t>
            </a:r>
          </a:p>
        </p:txBody>
      </p:sp>
    </p:spTree>
    <p:extLst>
      <p:ext uri="{BB962C8B-B14F-4D97-AF65-F5344CB8AC3E}">
        <p14:creationId xmlns:p14="http://schemas.microsoft.com/office/powerpoint/2010/main" val="994482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2026-09-26T13:31:30.4510000Z</dcterms:created>
  <dcterms:modified xsi:type="dcterms:W3CDTF">2026-09-26T13:31:30.4510000Z</dcterms:modified>
</coreProperties>
</file>